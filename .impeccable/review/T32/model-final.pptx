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opening slide introduces the fictional North Campus case and the basic problem the pilot is trying to address. The point is not that the campus has a proven technology fix, but that sorting mistakes can interfere with keeping reusable materials separate. That sets up why a camera-assisted workflow is worth discussing in a public-services context. Because this is a synthetic case, I will treat all later figures as illustrative pilot observations rather than real research evidence. The next slide moves from the problem to the proposed workflow, showing how the system handles uncertain items instead of making every decision automatically.</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the proposed workflow in plain terms before we look at any pilot observations. The key point is that the system is not presented as fully automatic. It uses the camera to make a first pass, but uncertain items are escalated to staff rather than forced into a bin. That design matters because it shows the system as a decision-support layer, not a replacement for human sorting.</a:t>
            </a:r>
          </a:p>
          <a:p/>
          <a:p>
            <a:r>
              <a:t>The three steps on screen map the logic of the process: scan, route when confidence is high, and review when confidence is low. This helps the audience understand why later slides discuss both potential benefits and operating costs. The workflow may reduce sorting errors, but it also creates a review task that staff must absorb.</a:t>
            </a:r>
          </a:p>
          <a:p/>
          <a:p>
            <a:r>
              <a:t>Because this is a fictional case study, we should keep the language descriptive and avoid implying that the workflow has already been proven effective. The next slide will move from the design to the pilot observations in the source PDF, including the page reference and the synthetic numbers reported there.</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reports the pilot observation exactly as given in the synthetic case, with the page reference so the audience can trace it back to the source PDF. The key point is the change in the observed incorrect-sorting share, from 42% to 29%, over four weeks and 1,000 inspected items per week. The percentage comparison helps the audience see the direction of the change quickly, but it should not be read as evidence of impact by itself.</a:t>
            </a:r>
          </a:p>
          <a:p/>
          <a:p>
            <a:r>
              <a:t>I want to be explicit about the evidence limit: the case is synthetic and there was no randomized control group, so we cannot say the camera-assisted workflow caused the change. At most, we can say the observed share moved in a favorable direction during the pilot period. That distinction matters for a seminar on digital systems in public services, because operational improvements and causal proof are not the same thing.</a:t>
            </a:r>
          </a:p>
          <a:p/>
          <a:p>
            <a:r>
              <a:t>The next slide should shift from observation to operating trade-offs: what the workflow costs staff time and maintenance effort, and why those costs matter when judging whether the approach is worth testing further.</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shifts from the workflow itself to what it costs to operate. The key point is that the system does not fully automate sorting; it creates a human review step for uncertain items. That design can reduce the risk of overconfident automatic decisions, but it also means staff time remains part of the process.</a:t>
            </a:r>
          </a:p>
          <a:p/>
          <a:p>
            <a:r>
              <a:t>The two operating figures on the slide are explicitly synthetic and come from the fictional North Campus case. They should be treated as case details, not as general benchmarks. The audience should notice the balance: the workflow may be manageable, but it is not free. Review time is daily, while camera maintenance is weekly, so the burden is spread across different routines.</a:t>
            </a:r>
          </a:p>
          <a:p/>
          <a:p>
            <a:r>
              <a:t>This slide also helps separate operational feasibility from performance. Even if the pilot looks encouraging, the practical question is whether the added work is acceptable in a real campus setting. That question is still open here because the case is fictional and the study design does not establish causation.</a:t>
            </a:r>
          </a:p>
          <a:p/>
          <a:p>
            <a:r>
              <a:t>The next slide should bring the argument to a careful close: the observed change is encouraging, but the evidence is not enough to claim the system caused it.</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slide should leave the audience with a careful takeaway: the pilot is encouraging, but it does not establish that the system caused the change. The key phrase “promising, not proven” is preserved exactly because it captures the right level of confidence for a synthetic case with limited design strength.</a:t>
            </a:r>
          </a:p>
          <a:p/>
          <a:p>
            <a:r>
              <a:t>The first section states the conclusion plainly. The second section explains why we should be cautious: without a randomized control group, we cannot separate the workflow’s effect from other possible influences. That distinction matters in a seminar on digital systems in public services, where evidence quality should guide decisions.</a:t>
            </a:r>
          </a:p>
          <a:p/>
          <a:p>
            <a:r>
              <a:t>The third section turns the result into a transition. Rather than recommending rollout, it points to the next logical step: a more controlled test. That keeps the presentation aligned with the assignment’s boundary that we should not claim deployment readiness or generalize beyond the fictional North Campus case.</a:t>
            </a:r>
          </a:p>
          <a:p/>
          <a:p>
            <a:r>
              <a:t>If presenting aloud, keep this slide brief and use it to summarize the whole deck: problem, workflow, observations, trade-offs, and then the evidence limit. The audience should leave understanding that the case is useful for discussion, but not enough to prove causation or justify a real-world decision on its own.</a:t>
            </a:r>
          </a:p>
          <a:p/>
          <a:p>
            <a:r>
              <a:t>Source: Source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26" y="1097252"/>
            <a:ext cx="4389010" cy="438901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5335" y="1463003"/>
            <a:ext cx="3535591" cy="3657508"/>
          </a:xfrm>
          <a:prstGeom prst="rect">
            <a:avLst/>
          </a:prstGeom>
          <a:noFill/>
        </p:spPr>
        <p:txBody>
          <a:bodyPr wrap="square" lIns="0" rIns="0" tIns="0" bIns="0">
            <a:normAutofit/>
          </a:bodyPr>
          <a:lstStyle/>
          <a:p>
            <a:pPr>
              <a:lnSpc>
                <a:spcPct val="116000"/>
              </a:lnSpc>
              <a:defRPr sz="4444" b="1">
                <a:solidFill>
                  <a:srgbClr val="FFFCF7"/>
                </a:solidFill>
                <a:latin typeface="Georgia"/>
              </a:defRPr>
            </a:pPr>
            <a:r>
              <a:t>Fictional North Campus sorting pilot</a:t>
            </a:r>
          </a:p>
        </p:txBody>
      </p:sp>
      <p:sp>
        <p:nvSpPr>
          <p:cNvPr id="5" name="Rectangle 4"/>
          <p:cNvSpPr/>
          <p:nvPr/>
        </p:nvSpPr>
        <p:spPr>
          <a:xfrm>
            <a:off x="5486262" y="1706837"/>
            <a:ext cx="975335" cy="4267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262" y="1877521"/>
            <a:ext cx="5852013" cy="474744"/>
          </a:xfrm>
          <a:prstGeom prst="rect">
            <a:avLst/>
          </a:prstGeom>
          <a:noFill/>
        </p:spPr>
        <p:txBody>
          <a:bodyPr wrap="square" lIns="0" rIns="0" tIns="0" bIns="0">
            <a:normAutofit/>
          </a:bodyPr>
          <a:lstStyle/>
          <a:p>
            <a:pPr>
              <a:lnSpc>
                <a:spcPct val="116000"/>
              </a:lnSpc>
              <a:defRPr sz="2592" b="1">
                <a:solidFill>
                  <a:srgbClr val="111827"/>
                </a:solidFill>
                <a:latin typeface="Arial"/>
              </a:defRPr>
            </a:pPr>
            <a:r>
              <a:t>Campus issue</a:t>
            </a:r>
          </a:p>
        </p:txBody>
      </p:sp>
      <p:sp>
        <p:nvSpPr>
          <p:cNvPr id="7" name="TextBox 6"/>
          <p:cNvSpPr txBox="1"/>
          <p:nvPr/>
        </p:nvSpPr>
        <p:spPr>
          <a:xfrm>
            <a:off x="5486262" y="2498566"/>
            <a:ext cx="5852013" cy="3353447"/>
          </a:xfrm>
          <a:prstGeom prst="rect">
            <a:avLst/>
          </a:prstGeom>
          <a:noFill/>
        </p:spPr>
        <p:txBody>
          <a:bodyPr wrap="square" lIns="0" rIns="0" tIns="0" bIns="0">
            <a:normAutofit/>
          </a:bodyPr>
          <a:lstStyle/>
          <a:p>
            <a:pPr>
              <a:lnSpc>
                <a:spcPct val="116000"/>
              </a:lnSpc>
              <a:defRPr sz="2688" b="0">
                <a:solidFill>
                  <a:srgbClr val="111827"/>
                </a:solidFill>
                <a:latin typeface="Arial"/>
              </a:defRPr>
            </a:pPr>
            <a:r>
              <a:t>Sorting errors make it harder to keep reusable materials separate on campus.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Camera-assisted sorting workflow</a:t>
            </a:r>
          </a:p>
        </p:txBody>
      </p:sp>
      <p:sp>
        <p:nvSpPr>
          <p:cNvPr id="4" name="Rectangle 3"/>
          <p:cNvSpPr/>
          <p:nvPr/>
        </p:nvSpPr>
        <p:spPr>
          <a:xfrm>
            <a:off x="853418" y="2926006"/>
            <a:ext cx="3332396"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3418" y="3023540"/>
            <a:ext cx="3332396" cy="395620"/>
          </a:xfrm>
          <a:prstGeom prst="rect">
            <a:avLst/>
          </a:prstGeom>
          <a:noFill/>
        </p:spPr>
        <p:txBody>
          <a:bodyPr wrap="square" lIns="0" rIns="0" tIns="0" bIns="0">
            <a:normAutofit/>
          </a:bodyPr>
          <a:lstStyle/>
          <a:p>
            <a:pPr>
              <a:lnSpc>
                <a:spcPct val="116000"/>
              </a:lnSpc>
              <a:defRPr sz="2160" b="1">
                <a:solidFill>
                  <a:srgbClr val="111827"/>
                </a:solidFill>
                <a:latin typeface="Arial"/>
              </a:defRPr>
            </a:pPr>
            <a:r>
              <a:t>Scan</a:t>
            </a:r>
          </a:p>
        </p:txBody>
      </p:sp>
      <p:sp>
        <p:nvSpPr>
          <p:cNvPr id="6" name="TextBox 5"/>
          <p:cNvSpPr txBox="1"/>
          <p:nvPr/>
        </p:nvSpPr>
        <p:spPr>
          <a:xfrm>
            <a:off x="853418" y="3504502"/>
            <a:ext cx="3332396" cy="2591344"/>
          </a:xfrm>
          <a:prstGeom prst="rect">
            <a:avLst/>
          </a:prstGeom>
          <a:noFill/>
        </p:spPr>
        <p:txBody>
          <a:bodyPr wrap="square" lIns="0" rIns="0" tIns="0" bIns="0">
            <a:normAutofit/>
          </a:bodyPr>
          <a:lstStyle/>
          <a:p>
            <a:pPr>
              <a:lnSpc>
                <a:spcPct val="116000"/>
              </a:lnSpc>
              <a:defRPr sz="2879" b="0">
                <a:solidFill>
                  <a:srgbClr val="111827"/>
                </a:solidFill>
                <a:latin typeface="Arial"/>
              </a:defRPr>
            </a:pPr>
            <a:r>
              <a:t>Camera scans each item as it arrives.</a:t>
            </a:r>
          </a:p>
        </p:txBody>
      </p:sp>
      <p:sp>
        <p:nvSpPr>
          <p:cNvPr id="7" name="Rectangle 6"/>
          <p:cNvSpPr/>
          <p:nvPr/>
        </p:nvSpPr>
        <p:spPr>
          <a:xfrm>
            <a:off x="4429649" y="2926006"/>
            <a:ext cx="3332396"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29649" y="3023540"/>
            <a:ext cx="3332396" cy="395620"/>
          </a:xfrm>
          <a:prstGeom prst="rect">
            <a:avLst/>
          </a:prstGeom>
          <a:noFill/>
        </p:spPr>
        <p:txBody>
          <a:bodyPr wrap="square" lIns="0" rIns="0" tIns="0" bIns="0">
            <a:normAutofit/>
          </a:bodyPr>
          <a:lstStyle/>
          <a:p>
            <a:pPr>
              <a:lnSpc>
                <a:spcPct val="116000"/>
              </a:lnSpc>
              <a:defRPr sz="2160" b="1">
                <a:solidFill>
                  <a:srgbClr val="111827"/>
                </a:solidFill>
                <a:latin typeface="Arial"/>
              </a:defRPr>
            </a:pPr>
            <a:r>
              <a:t>Route</a:t>
            </a:r>
          </a:p>
        </p:txBody>
      </p:sp>
      <p:sp>
        <p:nvSpPr>
          <p:cNvPr id="9" name="TextBox 8"/>
          <p:cNvSpPr txBox="1"/>
          <p:nvPr/>
        </p:nvSpPr>
        <p:spPr>
          <a:xfrm>
            <a:off x="4429649" y="3504502"/>
            <a:ext cx="3332396" cy="2591344"/>
          </a:xfrm>
          <a:prstGeom prst="rect">
            <a:avLst/>
          </a:prstGeom>
          <a:noFill/>
        </p:spPr>
        <p:txBody>
          <a:bodyPr wrap="square" lIns="0" rIns="0" tIns="0" bIns="0">
            <a:normAutofit/>
          </a:bodyPr>
          <a:lstStyle/>
          <a:p>
            <a:pPr>
              <a:lnSpc>
                <a:spcPct val="116000"/>
              </a:lnSpc>
              <a:defRPr sz="2879" b="0">
                <a:solidFill>
                  <a:srgbClr val="111827"/>
                </a:solidFill>
                <a:latin typeface="Arial"/>
              </a:defRPr>
            </a:pPr>
            <a:r>
              <a:t>If the system is confident, it routes the item to the matching bin.</a:t>
            </a:r>
          </a:p>
        </p:txBody>
      </p:sp>
      <p:sp>
        <p:nvSpPr>
          <p:cNvPr id="10" name="Rectangle 9"/>
          <p:cNvSpPr/>
          <p:nvPr/>
        </p:nvSpPr>
        <p:spPr>
          <a:xfrm>
            <a:off x="8005879" y="2926006"/>
            <a:ext cx="3332396"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5879" y="3023540"/>
            <a:ext cx="3332396" cy="395620"/>
          </a:xfrm>
          <a:prstGeom prst="rect">
            <a:avLst/>
          </a:prstGeom>
          <a:noFill/>
        </p:spPr>
        <p:txBody>
          <a:bodyPr wrap="square" lIns="0" rIns="0" tIns="0" bIns="0">
            <a:normAutofit/>
          </a:bodyPr>
          <a:lstStyle/>
          <a:p>
            <a:pPr>
              <a:lnSpc>
                <a:spcPct val="116000"/>
              </a:lnSpc>
              <a:defRPr sz="2160" b="1">
                <a:solidFill>
                  <a:srgbClr val="111827"/>
                </a:solidFill>
                <a:latin typeface="Arial"/>
              </a:defRPr>
            </a:pPr>
            <a:r>
              <a:t>Review</a:t>
            </a:r>
          </a:p>
        </p:txBody>
      </p:sp>
      <p:sp>
        <p:nvSpPr>
          <p:cNvPr id="12" name="TextBox 11"/>
          <p:cNvSpPr txBox="1"/>
          <p:nvPr/>
        </p:nvSpPr>
        <p:spPr>
          <a:xfrm>
            <a:off x="8005879" y="3504502"/>
            <a:ext cx="3332396" cy="2591344"/>
          </a:xfrm>
          <a:prstGeom prst="rect">
            <a:avLst/>
          </a:prstGeom>
          <a:noFill/>
        </p:spPr>
        <p:txBody>
          <a:bodyPr wrap="square" lIns="0" rIns="0" tIns="0" bIns="0">
            <a:normAutofit/>
          </a:bodyPr>
          <a:lstStyle/>
          <a:p>
            <a:pPr>
              <a:lnSpc>
                <a:spcPct val="116000"/>
              </a:lnSpc>
              <a:defRPr sz="2016" b="0">
                <a:solidFill>
                  <a:srgbClr val="111827"/>
                </a:solidFill>
                <a:latin typeface="Arial"/>
              </a:defRPr>
            </a:pPr>
            <a:r>
              <a:t>If confidence is low, it sends the item to staff for a quick check. This keeps the workflow partly automated while reserving judgment for uncertain cases.</a:t>
            </a:r>
          </a:p>
        </p:txBody>
      </p:sp>
      <p:sp>
        <p:nvSpPr>
          <p:cNvPr id="13" name="Rectangle 12"/>
          <p:cNvSpPr/>
          <p:nvPr/>
        </p:nvSpPr>
        <p:spPr>
          <a:xfrm>
            <a:off x="853418" y="1828754"/>
            <a:ext cx="2926006" cy="7315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3418" y="1828754"/>
            <a:ext cx="2926006"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6294" y="1999438"/>
            <a:ext cx="2560255" cy="487667"/>
          </a:xfrm>
          <a:prstGeom prst="rect">
            <a:avLst/>
          </a:prstGeom>
          <a:noFill/>
        </p:spPr>
        <p:txBody>
          <a:bodyPr wrap="square" lIns="0" rIns="0" tIns="0" bIns="0">
            <a:normAutofit/>
          </a:bodyPr>
          <a:lstStyle/>
          <a:p>
            <a:pPr>
              <a:lnSpc>
                <a:spcPct val="116000"/>
              </a:lnSpc>
              <a:defRPr sz="1872" b="1">
                <a:solidFill>
                  <a:srgbClr val="111827"/>
                </a:solidFill>
                <a:latin typeface="Arial"/>
              </a:defRPr>
            </a:pPr>
            <a:r>
              <a:t>Scan item</a:t>
            </a:r>
          </a:p>
        </p:txBody>
      </p:sp>
      <p:sp>
        <p:nvSpPr>
          <p:cNvPr id="16" name="Rectangle 15"/>
          <p:cNvSpPr/>
          <p:nvPr/>
        </p:nvSpPr>
        <p:spPr>
          <a:xfrm>
            <a:off x="3779425" y="2182313"/>
            <a:ext cx="1219169"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8595" y="1694645"/>
            <a:ext cx="24383" cy="85341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98595" y="1694645"/>
            <a:ext cx="731501"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30096" y="1341086"/>
            <a:ext cx="5608179" cy="7315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30096" y="1341086"/>
            <a:ext cx="5608179"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12972" y="1511770"/>
            <a:ext cx="5242428" cy="487667"/>
          </a:xfrm>
          <a:prstGeom prst="rect">
            <a:avLst/>
          </a:prstGeom>
          <a:noFill/>
        </p:spPr>
        <p:txBody>
          <a:bodyPr wrap="square" lIns="0" rIns="0" tIns="0" bIns="0">
            <a:normAutofit/>
          </a:bodyPr>
          <a:lstStyle/>
          <a:p>
            <a:pPr>
              <a:lnSpc>
                <a:spcPct val="116000"/>
              </a:lnSpc>
              <a:defRPr sz="1872" b="1">
                <a:solidFill>
                  <a:srgbClr val="111827"/>
                </a:solidFill>
                <a:latin typeface="Arial"/>
              </a:defRPr>
            </a:pPr>
            <a:r>
              <a:t>Auto-route if confident</a:t>
            </a:r>
          </a:p>
        </p:txBody>
      </p:sp>
      <p:sp>
        <p:nvSpPr>
          <p:cNvPr id="22" name="Rectangle 21"/>
          <p:cNvSpPr/>
          <p:nvPr/>
        </p:nvSpPr>
        <p:spPr>
          <a:xfrm>
            <a:off x="4998595" y="2548064"/>
            <a:ext cx="731501"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30096" y="2194505"/>
            <a:ext cx="5608179" cy="7315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30096" y="2194505"/>
            <a:ext cx="5608179"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12972" y="2365188"/>
            <a:ext cx="5242428" cy="487667"/>
          </a:xfrm>
          <a:prstGeom prst="rect">
            <a:avLst/>
          </a:prstGeom>
          <a:noFill/>
        </p:spPr>
        <p:txBody>
          <a:bodyPr wrap="square" lIns="0" rIns="0" tIns="0" bIns="0">
            <a:normAutofit/>
          </a:bodyPr>
          <a:lstStyle/>
          <a:p>
            <a:pPr>
              <a:lnSpc>
                <a:spcPct val="116000"/>
              </a:lnSpc>
              <a:defRPr sz="1872" b="1">
                <a:solidFill>
                  <a:srgbClr val="111827"/>
                </a:solidFill>
                <a:latin typeface="Arial"/>
              </a:defRPr>
            </a:pPr>
            <a:r>
              <a:t>Staff review if uncertain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Pilot observations from the source PDF</a:t>
            </a:r>
          </a:p>
        </p:txBody>
      </p:sp>
      <p:sp>
        <p:nvSpPr>
          <p:cNvPr id="4" name="Rectangle 3"/>
          <p:cNvSpPr/>
          <p:nvPr/>
        </p:nvSpPr>
        <p:spPr>
          <a:xfrm>
            <a:off x="853418" y="1950671"/>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3418" y="2072588"/>
            <a:ext cx="4876678" cy="1463003"/>
          </a:xfrm>
          <a:prstGeom prst="rect">
            <a:avLst/>
          </a:prstGeom>
          <a:noFill/>
        </p:spPr>
        <p:txBody>
          <a:bodyPr wrap="square" lIns="0" rIns="0" tIns="0" bIns="0">
            <a:normAutofit/>
          </a:bodyPr>
          <a:lstStyle/>
          <a:p>
            <a:pPr>
              <a:lnSpc>
                <a:spcPct val="116000"/>
              </a:lnSpc>
              <a:defRPr sz="6528" b="1">
                <a:solidFill>
                  <a:srgbClr val="334155"/>
                </a:solidFill>
                <a:latin typeface="Arial"/>
              </a:defRPr>
            </a:pPr>
            <a:r>
              <a:t>42%</a:t>
            </a:r>
          </a:p>
        </p:txBody>
      </p:sp>
      <p:sp>
        <p:nvSpPr>
          <p:cNvPr id="6" name="Rectangle 5"/>
          <p:cNvSpPr/>
          <p:nvPr/>
        </p:nvSpPr>
        <p:spPr>
          <a:xfrm>
            <a:off x="6461598" y="1950671"/>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598" y="2072588"/>
            <a:ext cx="4876678" cy="1463003"/>
          </a:xfrm>
          <a:prstGeom prst="rect">
            <a:avLst/>
          </a:prstGeom>
          <a:noFill/>
        </p:spPr>
        <p:txBody>
          <a:bodyPr wrap="square" lIns="0" rIns="0" tIns="0" bIns="0">
            <a:normAutofit/>
          </a:bodyPr>
          <a:lstStyle/>
          <a:p>
            <a:pPr>
              <a:lnSpc>
                <a:spcPct val="116000"/>
              </a:lnSpc>
              <a:defRPr sz="6528" b="1">
                <a:solidFill>
                  <a:srgbClr val="334155"/>
                </a:solidFill>
                <a:latin typeface="Arial"/>
              </a:defRPr>
            </a:pPr>
            <a:r>
              <a:t>29%</a:t>
            </a:r>
          </a:p>
        </p:txBody>
      </p:sp>
      <p:sp>
        <p:nvSpPr>
          <p:cNvPr id="8" name="TextBox 7"/>
          <p:cNvSpPr txBox="1"/>
          <p:nvPr/>
        </p:nvSpPr>
        <p:spPr>
          <a:xfrm>
            <a:off x="5852013" y="2316422"/>
            <a:ext cx="609584" cy="731501"/>
          </a:xfrm>
          <a:prstGeom prst="rect">
            <a:avLst/>
          </a:prstGeom>
          <a:noFill/>
        </p:spPr>
        <p:txBody>
          <a:bodyPr wrap="square" lIns="0" rIns="0" tIns="0" bIns="0">
            <a:normAutofit/>
          </a:bodyPr>
          <a:lstStyle/>
          <a:p>
            <a:pPr>
              <a:lnSpc>
                <a:spcPct val="116000"/>
              </a:lnSpc>
              <a:defRPr sz="3167" b="0">
                <a:solidFill>
                  <a:srgbClr val="57534E"/>
                </a:solidFill>
                <a:latin typeface="Arial"/>
              </a:defRPr>
            </a:pPr>
            <a:r>
              <a:t>→</a:t>
            </a:r>
          </a:p>
        </p:txBody>
      </p:sp>
      <p:sp>
        <p:nvSpPr>
          <p:cNvPr id="9" name="TextBox 8"/>
          <p:cNvSpPr txBox="1"/>
          <p:nvPr/>
        </p:nvSpPr>
        <p:spPr>
          <a:xfrm>
            <a:off x="853418" y="3291757"/>
            <a:ext cx="6461598" cy="365750"/>
          </a:xfrm>
          <a:prstGeom prst="rect">
            <a:avLst/>
          </a:prstGeom>
          <a:noFill/>
        </p:spPr>
        <p:txBody>
          <a:bodyPr wrap="square" lIns="0" rIns="0" tIns="0" bIns="0">
            <a:normAutofit/>
          </a:bodyPr>
          <a:lstStyle/>
          <a:p>
            <a:pPr>
              <a:lnSpc>
                <a:spcPct val="116000"/>
              </a:lnSpc>
              <a:defRPr sz="2016" b="0">
                <a:solidFill>
                  <a:srgbClr val="57534E"/>
                </a:solidFill>
                <a:latin typeface="Arial"/>
              </a:defRPr>
            </a:pPr>
            <a:r>
              <a:t>1,000 inspected items per week</a:t>
            </a:r>
          </a:p>
        </p:txBody>
      </p:sp>
      <p:sp>
        <p:nvSpPr>
          <p:cNvPr id="10" name="TextBox 9"/>
          <p:cNvSpPr txBox="1"/>
          <p:nvPr/>
        </p:nvSpPr>
        <p:spPr>
          <a:xfrm>
            <a:off x="7558851" y="3291757"/>
            <a:ext cx="3779425" cy="365750"/>
          </a:xfrm>
          <a:prstGeom prst="rect">
            <a:avLst/>
          </a:prstGeom>
          <a:noFill/>
        </p:spPr>
        <p:txBody>
          <a:bodyPr wrap="square" lIns="0" rIns="0" tIns="0" bIns="0">
            <a:normAutofit/>
          </a:bodyPr>
          <a:lstStyle/>
          <a:p>
            <a:pPr>
              <a:lnSpc>
                <a:spcPct val="116000"/>
              </a:lnSpc>
              <a:defRPr sz="1728" b="0">
                <a:solidFill>
                  <a:srgbClr val="57534E"/>
                </a:solidFill>
                <a:latin typeface="Arial"/>
              </a:defRPr>
            </a:pPr>
            <a:r>
              <a:t>source PDF, p. 1</a:t>
            </a:r>
          </a:p>
        </p:txBody>
      </p:sp>
      <p:sp>
        <p:nvSpPr>
          <p:cNvPr id="11" name="TextBox 10"/>
          <p:cNvSpPr txBox="1"/>
          <p:nvPr/>
        </p:nvSpPr>
        <p:spPr>
          <a:xfrm>
            <a:off x="853418" y="3779425"/>
            <a:ext cx="4876678" cy="487667"/>
          </a:xfrm>
          <a:prstGeom prst="rect">
            <a:avLst/>
          </a:prstGeom>
          <a:noFill/>
        </p:spPr>
        <p:txBody>
          <a:bodyPr wrap="square" lIns="0" rIns="0" tIns="0" bIns="0">
            <a:normAutofit/>
          </a:bodyPr>
          <a:lstStyle/>
          <a:p>
            <a:pPr>
              <a:lnSpc>
                <a:spcPct val="116000"/>
              </a:lnSpc>
              <a:defRPr sz="2304" b="1">
                <a:solidFill>
                  <a:srgbClr val="111827"/>
                </a:solidFill>
                <a:latin typeface="Arial"/>
              </a:defRPr>
            </a:pPr>
            <a:r>
              <a:t>Observed change</a:t>
            </a:r>
          </a:p>
        </p:txBody>
      </p:sp>
      <p:sp>
        <p:nvSpPr>
          <p:cNvPr id="12" name="TextBox 11"/>
          <p:cNvSpPr txBox="1"/>
          <p:nvPr/>
        </p:nvSpPr>
        <p:spPr>
          <a:xfrm>
            <a:off x="853418" y="4389010"/>
            <a:ext cx="4876678" cy="1706837"/>
          </a:xfrm>
          <a:prstGeom prst="rect">
            <a:avLst/>
          </a:prstGeom>
          <a:noFill/>
        </p:spPr>
        <p:txBody>
          <a:bodyPr wrap="square" lIns="0" rIns="0" tIns="0" bIns="0">
            <a:normAutofit/>
          </a:bodyPr>
          <a:lstStyle/>
          <a:p>
            <a:pPr>
              <a:lnSpc>
                <a:spcPct val="116000"/>
              </a:lnSpc>
              <a:defRPr sz="2112" b="0">
                <a:solidFill>
                  <a:srgbClr val="111827"/>
                </a:solidFill>
                <a:latin typeface="Arial"/>
              </a:defRPr>
            </a:pPr>
            <a:r>
              <a:t>Synthetic four-week case: the observed incorrect-sorting share changed from 42% to 29% across 1,000 inspected items per week (source PDF, p. 1).</a:t>
            </a:r>
          </a:p>
        </p:txBody>
      </p:sp>
      <p:sp>
        <p:nvSpPr>
          <p:cNvPr id="13" name="TextBox 12"/>
          <p:cNvSpPr txBox="1"/>
          <p:nvPr/>
        </p:nvSpPr>
        <p:spPr>
          <a:xfrm>
            <a:off x="6461598" y="3779425"/>
            <a:ext cx="4876678" cy="487667"/>
          </a:xfrm>
          <a:prstGeom prst="rect">
            <a:avLst/>
          </a:prstGeom>
          <a:noFill/>
        </p:spPr>
        <p:txBody>
          <a:bodyPr wrap="square" lIns="0" rIns="0" tIns="0" bIns="0">
            <a:normAutofit/>
          </a:bodyPr>
          <a:lstStyle/>
          <a:p>
            <a:pPr>
              <a:lnSpc>
                <a:spcPct val="116000"/>
              </a:lnSpc>
              <a:defRPr sz="2304" b="1">
                <a:solidFill>
                  <a:srgbClr val="111827"/>
                </a:solidFill>
                <a:latin typeface="Arial"/>
              </a:defRPr>
            </a:pPr>
            <a:r>
              <a:t>Interpretation limit</a:t>
            </a:r>
          </a:p>
        </p:txBody>
      </p:sp>
      <p:sp>
        <p:nvSpPr>
          <p:cNvPr id="14" name="TextBox 13"/>
          <p:cNvSpPr txBox="1"/>
          <p:nvPr/>
        </p:nvSpPr>
        <p:spPr>
          <a:xfrm>
            <a:off x="6461598" y="4389010"/>
            <a:ext cx="4876678" cy="1706837"/>
          </a:xfrm>
          <a:prstGeom prst="rect">
            <a:avLst/>
          </a:prstGeom>
          <a:noFill/>
        </p:spPr>
        <p:txBody>
          <a:bodyPr wrap="square" lIns="0" rIns="0" tIns="0" bIns="0">
            <a:normAutofit/>
          </a:bodyPr>
          <a:lstStyle/>
          <a:p>
            <a:pPr>
              <a:lnSpc>
                <a:spcPct val="116000"/>
              </a:lnSpc>
              <a:defRPr sz="2496" b="0">
                <a:solidFill>
                  <a:srgbClr val="111827"/>
                </a:solidFill>
                <a:latin typeface="Arial"/>
              </a:defRPr>
            </a:pPr>
            <a:r>
              <a:t>This is an observation, not proof of causation, because the pilot had no randomized control group.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Operating trade-offs</a:t>
            </a:r>
          </a:p>
        </p:txBody>
      </p:sp>
      <p:sp>
        <p:nvSpPr>
          <p:cNvPr id="4" name="Rectangle 3"/>
          <p:cNvSpPr/>
          <p:nvPr/>
        </p:nvSpPr>
        <p:spPr>
          <a:xfrm>
            <a:off x="853418" y="1950671"/>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3418" y="2072588"/>
            <a:ext cx="4876678" cy="1219169"/>
          </a:xfrm>
          <a:prstGeom prst="rect">
            <a:avLst/>
          </a:prstGeom>
          <a:noFill/>
        </p:spPr>
        <p:txBody>
          <a:bodyPr wrap="square" lIns="0" rIns="0" tIns="0" bIns="0">
            <a:normAutofit/>
          </a:bodyPr>
          <a:lstStyle/>
          <a:p>
            <a:pPr>
              <a:lnSpc>
                <a:spcPct val="116000"/>
              </a:lnSpc>
              <a:defRPr sz="6240" b="1">
                <a:solidFill>
                  <a:srgbClr val="334155"/>
                </a:solidFill>
                <a:latin typeface="Arial"/>
              </a:defRPr>
            </a:pPr>
            <a:r>
              <a:t>18</a:t>
            </a:r>
          </a:p>
        </p:txBody>
      </p:sp>
      <p:sp>
        <p:nvSpPr>
          <p:cNvPr id="6" name="TextBox 5"/>
          <p:cNvSpPr txBox="1"/>
          <p:nvPr/>
        </p:nvSpPr>
        <p:spPr>
          <a:xfrm>
            <a:off x="853418" y="3169840"/>
            <a:ext cx="4876678" cy="487667"/>
          </a:xfrm>
          <a:prstGeom prst="rect">
            <a:avLst/>
          </a:prstGeom>
          <a:noFill/>
        </p:spPr>
        <p:txBody>
          <a:bodyPr wrap="square" lIns="0" rIns="0" tIns="0" bIns="0">
            <a:normAutofit/>
          </a:bodyPr>
          <a:lstStyle/>
          <a:p>
            <a:pPr>
              <a:lnSpc>
                <a:spcPct val="116000"/>
              </a:lnSpc>
              <a:defRPr sz="2304" b="1">
                <a:solidFill>
                  <a:srgbClr val="334155"/>
                </a:solidFill>
                <a:latin typeface="Arial"/>
              </a:defRPr>
            </a:pPr>
            <a:r>
              <a:t>minutes per day</a:t>
            </a:r>
          </a:p>
        </p:txBody>
      </p:sp>
      <p:sp>
        <p:nvSpPr>
          <p:cNvPr id="7" name="Rectangle 6"/>
          <p:cNvSpPr/>
          <p:nvPr/>
        </p:nvSpPr>
        <p:spPr>
          <a:xfrm>
            <a:off x="853418" y="4023259"/>
            <a:ext cx="4876678" cy="3047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18" y="4145176"/>
            <a:ext cx="4876678" cy="1219169"/>
          </a:xfrm>
          <a:prstGeom prst="rect">
            <a:avLst/>
          </a:prstGeom>
          <a:noFill/>
        </p:spPr>
        <p:txBody>
          <a:bodyPr wrap="square" lIns="0" rIns="0" tIns="0" bIns="0">
            <a:normAutofit/>
          </a:bodyPr>
          <a:lstStyle/>
          <a:p>
            <a:pPr>
              <a:lnSpc>
                <a:spcPct val="116000"/>
              </a:lnSpc>
              <a:defRPr sz="6240" b="1">
                <a:solidFill>
                  <a:srgbClr val="334155"/>
                </a:solidFill>
                <a:latin typeface="Arial"/>
              </a:defRPr>
            </a:pPr>
            <a:r>
              <a:t>two</a:t>
            </a:r>
          </a:p>
        </p:txBody>
      </p:sp>
      <p:sp>
        <p:nvSpPr>
          <p:cNvPr id="9" name="TextBox 8"/>
          <p:cNvSpPr txBox="1"/>
          <p:nvPr/>
        </p:nvSpPr>
        <p:spPr>
          <a:xfrm>
            <a:off x="853418" y="5242428"/>
            <a:ext cx="4876678" cy="487667"/>
          </a:xfrm>
          <a:prstGeom prst="rect">
            <a:avLst/>
          </a:prstGeom>
          <a:noFill/>
        </p:spPr>
        <p:txBody>
          <a:bodyPr wrap="square" lIns="0" rIns="0" tIns="0" bIns="0">
            <a:normAutofit/>
          </a:bodyPr>
          <a:lstStyle/>
          <a:p>
            <a:pPr>
              <a:lnSpc>
                <a:spcPct val="116000"/>
              </a:lnSpc>
              <a:defRPr sz="2304" b="1">
                <a:solidFill>
                  <a:srgbClr val="334155"/>
                </a:solidFill>
                <a:latin typeface="Arial"/>
              </a:defRPr>
            </a:pPr>
            <a:r>
              <a:t>hours per week</a:t>
            </a:r>
          </a:p>
        </p:txBody>
      </p:sp>
      <p:sp>
        <p:nvSpPr>
          <p:cNvPr id="10" name="TextBox 9"/>
          <p:cNvSpPr txBox="1"/>
          <p:nvPr/>
        </p:nvSpPr>
        <p:spPr>
          <a:xfrm>
            <a:off x="5730096" y="2072588"/>
            <a:ext cx="5608179" cy="487667"/>
          </a:xfrm>
          <a:prstGeom prst="rect">
            <a:avLst/>
          </a:prstGeom>
          <a:noFill/>
        </p:spPr>
        <p:txBody>
          <a:bodyPr wrap="square" lIns="0" rIns="0" tIns="0" bIns="0">
            <a:normAutofit/>
          </a:bodyPr>
          <a:lstStyle/>
          <a:p>
            <a:pPr>
              <a:lnSpc>
                <a:spcPct val="116000"/>
              </a:lnSpc>
              <a:defRPr sz="2304" b="1">
                <a:solidFill>
                  <a:srgbClr val="111827"/>
                </a:solidFill>
                <a:latin typeface="Arial"/>
              </a:defRPr>
            </a:pPr>
            <a:r>
              <a:t>Staff review</a:t>
            </a:r>
          </a:p>
        </p:txBody>
      </p:sp>
      <p:sp>
        <p:nvSpPr>
          <p:cNvPr id="11" name="TextBox 10"/>
          <p:cNvSpPr txBox="1"/>
          <p:nvPr/>
        </p:nvSpPr>
        <p:spPr>
          <a:xfrm>
            <a:off x="5730096" y="2584639"/>
            <a:ext cx="5608179" cy="1326328"/>
          </a:xfrm>
          <a:prstGeom prst="rect">
            <a:avLst/>
          </a:prstGeom>
          <a:noFill/>
        </p:spPr>
        <p:txBody>
          <a:bodyPr wrap="square" lIns="0" rIns="0" tIns="0" bIns="0">
            <a:normAutofit/>
          </a:bodyPr>
          <a:lstStyle/>
          <a:p>
            <a:pPr>
              <a:lnSpc>
                <a:spcPct val="116000"/>
              </a:lnSpc>
              <a:defRPr sz="2112" b="0">
                <a:solidFill>
                  <a:srgbClr val="111827"/>
                </a:solidFill>
                <a:latin typeface="Arial"/>
              </a:defRPr>
            </a:pPr>
            <a:r>
              <a:t>Staff review is the main human check: uncertain items are sent to staff instead of being decided automatically.</a:t>
            </a:r>
          </a:p>
        </p:txBody>
      </p:sp>
      <p:sp>
        <p:nvSpPr>
          <p:cNvPr id="12" name="TextBox 11"/>
          <p:cNvSpPr txBox="1"/>
          <p:nvPr/>
        </p:nvSpPr>
        <p:spPr>
          <a:xfrm>
            <a:off x="5730096" y="4093842"/>
            <a:ext cx="5608179" cy="487667"/>
          </a:xfrm>
          <a:prstGeom prst="rect">
            <a:avLst/>
          </a:prstGeom>
          <a:noFill/>
        </p:spPr>
        <p:txBody>
          <a:bodyPr wrap="square" lIns="0" rIns="0" tIns="0" bIns="0">
            <a:normAutofit/>
          </a:bodyPr>
          <a:lstStyle/>
          <a:p>
            <a:pPr>
              <a:lnSpc>
                <a:spcPct val="116000"/>
              </a:lnSpc>
              <a:defRPr sz="2304" b="1">
                <a:solidFill>
                  <a:srgbClr val="111827"/>
                </a:solidFill>
                <a:latin typeface="Arial"/>
              </a:defRPr>
            </a:pPr>
            <a:r>
              <a:t>Maintenance load</a:t>
            </a:r>
          </a:p>
        </p:txBody>
      </p:sp>
      <p:sp>
        <p:nvSpPr>
          <p:cNvPr id="13" name="TextBox 12"/>
          <p:cNvSpPr txBox="1"/>
          <p:nvPr/>
        </p:nvSpPr>
        <p:spPr>
          <a:xfrm>
            <a:off x="5730096" y="4605894"/>
            <a:ext cx="5608179" cy="1489953"/>
          </a:xfrm>
          <a:prstGeom prst="rect">
            <a:avLst/>
          </a:prstGeom>
          <a:noFill/>
        </p:spPr>
        <p:txBody>
          <a:bodyPr wrap="square" lIns="0" rIns="0" tIns="0" bIns="0">
            <a:normAutofit/>
          </a:bodyPr>
          <a:lstStyle/>
          <a:p>
            <a:pPr>
              <a:lnSpc>
                <a:spcPct val="116000"/>
              </a:lnSpc>
              <a:defRPr sz="2304" b="0">
                <a:solidFill>
                  <a:srgbClr val="111827"/>
                </a:solidFill>
                <a:latin typeface="Arial"/>
              </a:defRPr>
            </a:pPr>
            <a:r>
              <a:t>In this synthetic case, that review takes 18 minutes per day, and camera maintenance adds two hours per week (source PDF, p.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3418" y="560817"/>
            <a:ext cx="10484857" cy="1097252"/>
          </a:xfrm>
          <a:prstGeom prst="rect">
            <a:avLst/>
          </a:prstGeom>
          <a:noFill/>
        </p:spPr>
        <p:txBody>
          <a:bodyPr wrap="square" lIns="0" rIns="0" tIns="0" bIns="0">
            <a:normAutofit/>
          </a:bodyPr>
          <a:lstStyle/>
          <a:p>
            <a:pPr>
              <a:lnSpc>
                <a:spcPct val="116000"/>
              </a:lnSpc>
              <a:defRPr sz="3744" b="1">
                <a:solidFill>
                  <a:srgbClr val="111827"/>
                </a:solidFill>
                <a:latin typeface="Georgia"/>
              </a:defRPr>
            </a:pPr>
            <a:r>
              <a:t>Conclusion: promising, not proven</a:t>
            </a:r>
          </a:p>
        </p:txBody>
      </p:sp>
      <p:sp>
        <p:nvSpPr>
          <p:cNvPr id="4" name="Rectangle 3"/>
          <p:cNvSpPr/>
          <p:nvPr/>
        </p:nvSpPr>
        <p:spPr>
          <a:xfrm>
            <a:off x="4145176" y="2072588"/>
            <a:ext cx="18287" cy="4023259"/>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3418" y="2072588"/>
            <a:ext cx="1097252" cy="4267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18" y="2316422"/>
            <a:ext cx="2926006" cy="995329"/>
          </a:xfrm>
          <a:prstGeom prst="rect">
            <a:avLst/>
          </a:prstGeom>
          <a:noFill/>
        </p:spPr>
        <p:txBody>
          <a:bodyPr wrap="square" lIns="0" rIns="0" tIns="0" bIns="0">
            <a:normAutofit/>
          </a:bodyPr>
          <a:lstStyle/>
          <a:p>
            <a:pPr>
              <a:lnSpc>
                <a:spcPct val="116000"/>
              </a:lnSpc>
              <a:defRPr sz="2976" b="1">
                <a:solidFill>
                  <a:srgbClr val="111827"/>
                </a:solidFill>
                <a:latin typeface="Arial"/>
              </a:defRPr>
            </a:pPr>
            <a:r>
              <a:t>Measured conclusion</a:t>
            </a:r>
          </a:p>
        </p:txBody>
      </p:sp>
      <p:sp>
        <p:nvSpPr>
          <p:cNvPr id="7" name="TextBox 6"/>
          <p:cNvSpPr txBox="1"/>
          <p:nvPr/>
        </p:nvSpPr>
        <p:spPr>
          <a:xfrm>
            <a:off x="853418" y="3543394"/>
            <a:ext cx="2926006" cy="2552453"/>
          </a:xfrm>
          <a:prstGeom prst="rect">
            <a:avLst/>
          </a:prstGeom>
          <a:noFill/>
        </p:spPr>
        <p:txBody>
          <a:bodyPr wrap="square" lIns="0" rIns="0" tIns="0" bIns="0">
            <a:normAutofit/>
          </a:bodyPr>
          <a:lstStyle/>
          <a:p>
            <a:pPr>
              <a:lnSpc>
                <a:spcPct val="116000"/>
              </a:lnSpc>
              <a:defRPr sz="2592" b="0">
                <a:solidFill>
                  <a:srgbClr val="111827"/>
                </a:solidFill>
                <a:latin typeface="Arial"/>
              </a:defRPr>
            </a:pPr>
            <a:r>
              <a:t>The pilot is promising, not proven.</a:t>
            </a:r>
          </a:p>
        </p:txBody>
      </p:sp>
      <p:sp>
        <p:nvSpPr>
          <p:cNvPr id="8" name="Rectangle 7"/>
          <p:cNvSpPr/>
          <p:nvPr/>
        </p:nvSpPr>
        <p:spPr>
          <a:xfrm>
            <a:off x="4510927" y="2072588"/>
            <a:ext cx="6827349"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0927" y="2170121"/>
            <a:ext cx="6827349" cy="395620"/>
          </a:xfrm>
          <a:prstGeom prst="rect">
            <a:avLst/>
          </a:prstGeom>
          <a:noFill/>
        </p:spPr>
        <p:txBody>
          <a:bodyPr wrap="square" lIns="0" rIns="0" tIns="0" bIns="0">
            <a:normAutofit/>
          </a:bodyPr>
          <a:lstStyle/>
          <a:p>
            <a:pPr>
              <a:lnSpc>
                <a:spcPct val="116000"/>
              </a:lnSpc>
              <a:defRPr sz="2160" b="1">
                <a:solidFill>
                  <a:srgbClr val="111827"/>
                </a:solidFill>
                <a:latin typeface="Arial"/>
              </a:defRPr>
            </a:pPr>
            <a:r>
              <a:t>Limits of inference</a:t>
            </a:r>
          </a:p>
        </p:txBody>
      </p:sp>
      <p:sp>
        <p:nvSpPr>
          <p:cNvPr id="10" name="TextBox 9"/>
          <p:cNvSpPr txBox="1"/>
          <p:nvPr/>
        </p:nvSpPr>
        <p:spPr>
          <a:xfrm>
            <a:off x="4510927" y="2651084"/>
            <a:ext cx="6827349" cy="1398100"/>
          </a:xfrm>
          <a:prstGeom prst="rect">
            <a:avLst/>
          </a:prstGeom>
          <a:noFill/>
        </p:spPr>
        <p:txBody>
          <a:bodyPr wrap="square" lIns="0" rIns="0" tIns="0" bIns="0">
            <a:normAutofit/>
          </a:bodyPr>
          <a:lstStyle/>
          <a:p>
            <a:pPr>
              <a:lnSpc>
                <a:spcPct val="116000"/>
              </a:lnSpc>
              <a:defRPr sz="2208" b="0">
                <a:solidFill>
                  <a:srgbClr val="57534E"/>
                </a:solidFill>
                <a:latin typeface="Arial"/>
              </a:defRPr>
            </a:pPr>
            <a:r>
              <a:t>Because the synthetic study had no randomized control group, the observed change cannot be attributed to the camera-assisted workflow.</a:t>
            </a:r>
          </a:p>
        </p:txBody>
      </p:sp>
      <p:sp>
        <p:nvSpPr>
          <p:cNvPr id="11" name="Rectangle 10"/>
          <p:cNvSpPr/>
          <p:nvPr/>
        </p:nvSpPr>
        <p:spPr>
          <a:xfrm>
            <a:off x="4510927" y="4293018"/>
            <a:ext cx="6827349" cy="24383"/>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0927" y="4390551"/>
            <a:ext cx="6827349" cy="395620"/>
          </a:xfrm>
          <a:prstGeom prst="rect">
            <a:avLst/>
          </a:prstGeom>
          <a:noFill/>
        </p:spPr>
        <p:txBody>
          <a:bodyPr wrap="square" lIns="0" rIns="0" tIns="0" bIns="0">
            <a:normAutofit/>
          </a:bodyPr>
          <a:lstStyle/>
          <a:p>
            <a:pPr>
              <a:lnSpc>
                <a:spcPct val="116000"/>
              </a:lnSpc>
              <a:defRPr sz="2160" b="1">
                <a:solidFill>
                  <a:srgbClr val="111827"/>
                </a:solidFill>
                <a:latin typeface="Arial"/>
              </a:defRPr>
            </a:pPr>
            <a:r>
              <a:t>Next step</a:t>
            </a:r>
          </a:p>
        </p:txBody>
      </p:sp>
      <p:sp>
        <p:nvSpPr>
          <p:cNvPr id="13" name="TextBox 12"/>
          <p:cNvSpPr txBox="1"/>
          <p:nvPr/>
        </p:nvSpPr>
        <p:spPr>
          <a:xfrm>
            <a:off x="4510927" y="4871514"/>
            <a:ext cx="6827349" cy="1224333"/>
          </a:xfrm>
          <a:prstGeom prst="rect">
            <a:avLst/>
          </a:prstGeom>
          <a:noFill/>
        </p:spPr>
        <p:txBody>
          <a:bodyPr wrap="square" lIns="0" rIns="0" tIns="0" bIns="0">
            <a:normAutofit/>
          </a:bodyPr>
          <a:lstStyle/>
          <a:p>
            <a:pPr>
              <a:lnSpc>
                <a:spcPct val="116000"/>
              </a:lnSpc>
              <a:defRPr sz="2208" b="0">
                <a:solidFill>
                  <a:srgbClr val="57534E"/>
                </a:solidFill>
                <a:latin typeface="Arial"/>
              </a:defRPr>
            </a:pPr>
            <a:r>
              <a:t>Treat the result as a case observation, not causal evidence, and use it to frame the next test rather than a deployment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
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" cy="68578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2734" y="709312"/>
            <a:ext cx="3803808" cy="34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33415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2734" y="1318897"/>
            <a:ext cx="10289790" cy="179851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5568" b="1">
                <a:solidFill>
                  <a:srgbClr val="111827"/>
                </a:solidFill>
                <a:latin typeface="Georgia"/>
              </a:defRPr>
            </a:pPr>
            <a:r>
              <a:t>North Campus sorting pilot: why sorting errors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734" y="3288100"/>
            <a:ext cx="1097252" cy="4267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2734" y="3580700"/>
            <a:ext cx="8948704" cy="4876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304" b="1">
                <a:solidFill>
                  <a:srgbClr val="111827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734" y="4214669"/>
            <a:ext cx="8948704" cy="7573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208" b="0">
                <a:solidFill>
                  <a:srgbClr val="57534E"/>
                </a:solidFill>
                <a:latin typeface="Arial"/>
              </a:defRPr>
            </a:pPr>
            <a:r>
              <a:t>Sorting errors make it harder to keep reusable materials separate on a campus.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560817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744" b="1">
                <a:solidFill>
                  <a:srgbClr val="111827"/>
                </a:solidFill>
                <a:latin typeface="Georgia"/>
              </a:defRPr>
            </a:pPr>
            <a:r>
              <a:t>Proposed camera-assisted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2926006"/>
            <a:ext cx="10484857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3023540"/>
            <a:ext cx="10484857" cy="3956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1">
                <a:solidFill>
                  <a:srgbClr val="111827"/>
                </a:solidFill>
                <a:latin typeface="Arial"/>
              </a:defRPr>
            </a:pPr>
            <a:r>
              <a:t>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18" y="3504502"/>
            <a:ext cx="10484857" cy="8579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208" b="0">
                <a:solidFill>
                  <a:srgbClr val="111827"/>
                </a:solidFill>
                <a:latin typeface="Arial"/>
              </a:defRPr>
            </a:pPr>
            <a:r>
              <a:t>Flag uncertain items for staff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18" y="4606244"/>
            <a:ext cx="10484857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18" y="4703777"/>
            <a:ext cx="10484857" cy="3956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1">
                <a:solidFill>
                  <a:srgbClr val="111827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18" y="5184740"/>
            <a:ext cx="10484857" cy="9111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208" b="0">
                <a:solidFill>
                  <a:srgbClr val="111827"/>
                </a:solidFill>
                <a:latin typeface="Arial"/>
              </a:defRPr>
            </a:pPr>
            <a:r>
              <a:t>Do not decide every item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18" y="1828754"/>
            <a:ext cx="3251118" cy="7315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3418" y="1828754"/>
            <a:ext cx="3251118" cy="3047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04537" y="2170121"/>
            <a:ext cx="243833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6294" y="1999438"/>
            <a:ext cx="2885367" cy="4876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72" b="1">
                <a:solidFill>
                  <a:srgbClr val="111827"/>
                </a:solidFill>
                <a:latin typeface="Arial"/>
              </a:defRPr>
            </a:pPr>
            <a:r>
              <a:t>Scan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8371" y="1828754"/>
            <a:ext cx="3251118" cy="7315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8371" y="1828754"/>
            <a:ext cx="3251118" cy="3047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99490" y="2170121"/>
            <a:ext cx="243833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1246" y="1999438"/>
            <a:ext cx="2885367" cy="4876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72" b="1">
                <a:solidFill>
                  <a:srgbClr val="111827"/>
                </a:solidFill>
                <a:latin typeface="Arial"/>
              </a:defRPr>
            </a:pPr>
            <a:r>
              <a:t>Flag uncertain items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3323" y="1828754"/>
            <a:ext cx="3251118" cy="7315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3323" y="1828754"/>
            <a:ext cx="3251118" cy="3047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6199" y="1999438"/>
            <a:ext cx="2885367" cy="4876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72" b="1">
                <a:solidFill>
                  <a:srgbClr val="111827"/>
                </a:solidFill>
                <a:latin typeface="Arial"/>
              </a:defRPr>
            </a:pPr>
            <a:r>
              <a:t>Staff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560817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744" b="1">
                <a:solidFill>
                  <a:srgbClr val="111827"/>
                </a:solidFill>
                <a:latin typeface="Georgia"/>
              </a:defRPr>
            </a:pPr>
            <a:r>
              <a:t>Pilot observation from the synthetic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2072588"/>
            <a:ext cx="1097252" cy="4267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2316422"/>
            <a:ext cx="10484857" cy="5342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976" b="1">
                <a:solidFill>
                  <a:srgbClr val="111827"/>
                </a:solidFill>
                <a:latin typeface="Arial"/>
              </a:defRPr>
            </a:pPr>
            <a:r>
              <a:t>Observed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18" y="3082304"/>
            <a:ext cx="10484857" cy="30135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592" b="0">
                <a:solidFill>
                  <a:srgbClr val="111827"/>
                </a:solidFill>
                <a:latin typeface="Arial"/>
              </a:defRPr>
            </a:pPr>
            <a:r>
              <a:t>In the four-week synthetic pilot, the observed incorrect-sorting share changed from 42% to 29% across 1,000 inspected items per week (source PDF, p. 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560817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744" b="1">
                <a:solidFill>
                  <a:srgbClr val="111827"/>
                </a:solidFill>
                <a:latin typeface="Georgia"/>
              </a:defRPr>
            </a:pPr>
            <a:r>
              <a:t>Operating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2072588"/>
            <a:ext cx="5120511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2170121"/>
            <a:ext cx="5120511" cy="3956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1">
                <a:solidFill>
                  <a:srgbClr val="111827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18" y="2651084"/>
            <a:ext cx="5120511" cy="34447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879" b="0">
                <a:solidFill>
                  <a:srgbClr val="111827"/>
                </a:solidFill>
                <a:latin typeface="Arial"/>
              </a:defRPr>
            </a:pPr>
            <a:r>
              <a:t>Staff review takes 18 minutes per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764" y="2072588"/>
            <a:ext cx="5120511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764" y="2170121"/>
            <a:ext cx="5120511" cy="3956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1">
                <a:solidFill>
                  <a:srgbClr val="111827"/>
                </a:solidFill>
                <a:latin typeface="Arial"/>
              </a:defRPr>
            </a:pPr>
            <a:r>
              <a:t>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764" y="2651084"/>
            <a:ext cx="5120511" cy="34447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879" b="0">
                <a:solidFill>
                  <a:srgbClr val="111827"/>
                </a:solidFill>
                <a:latin typeface="Arial"/>
              </a:defRPr>
            </a:pPr>
            <a:r>
              <a:t>Camera maintenance takes two hours per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560817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744" b="1">
                <a:solidFill>
                  <a:srgbClr val="111827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54058" y="2072588"/>
            <a:ext cx="18287" cy="40232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767" y="2072588"/>
            <a:ext cx="3657508" cy="2438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767" y="2170121"/>
            <a:ext cx="3657508" cy="3956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1">
                <a:solidFill>
                  <a:srgbClr val="111827"/>
                </a:solidFill>
                <a:latin typeface="Arial"/>
              </a:defRPr>
            </a:pPr>
            <a:r>
              <a:t>Measured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767" y="2651084"/>
            <a:ext cx="3657508" cy="34447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208" b="0">
                <a:solidFill>
                  <a:srgbClr val="57534E"/>
                </a:solidFill>
                <a:latin typeface="Arial"/>
              </a:defRPr>
            </a:pPr>
            <a:r>
              <a:t>The results are promising, not proven.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18" y="2072588"/>
            <a:ext cx="1097252" cy="4267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18" y="2316422"/>
            <a:ext cx="6095847" cy="5342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976" b="1">
                <a:solidFill>
                  <a:srgbClr val="111827"/>
                </a:solidFill>
                <a:latin typeface="Arial"/>
              </a:defRPr>
            </a:pPr>
            <a:r>
              <a:t>Causation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18" y="3082304"/>
            <a:ext cx="6095847" cy="30135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592" b="0">
                <a:solidFill>
                  <a:srgbClr val="111827"/>
                </a:solidFill>
                <a:latin typeface="Arial"/>
              </a:defRPr>
            </a:pPr>
            <a:r>
              <a:t>The synthetic pilot cannot show that the system caused the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
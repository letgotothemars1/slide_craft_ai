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that this is a synthetic campus pilot. Sorting errors make reusable materials harder to separate. Introduce the camera workflow next; do not claim proven causation.</a:t>
            </a:r>
          </a:p>
          <a:p/>
          <a:p>
            <a:r>
              <a:t>Source: Source needed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explains the proposed process in plain language for an audience that may not know waste-sorting technology. The key point is that the system is not fully automatic: it uses a camera to scan items, then flags uncertain cases for staff review. That distinction matters because it shows the workflow is designed to support human judgment rather than replace it. The simple process visual helps the audience follow the sequence quickly, which is useful in a short presentation. I am not making any performance claim here; this slide only describes how the workflow is supposed to operate. The next slide will move from the design of the workflow to the pilot observation, where we can discuss what changed in the synthetic case and keep the evidence clearly separate from any causal interpretation.</a:t>
            </a:r>
          </a:p>
          <a:p/>
          <a:p>
            <a:r>
              <a:t>Source: Source needed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reports the pilot observation only. The key point is the observed change in incorrect-sorting share in the synthetic four-week case, with the page reference kept on the slide so the audience can trace the statement back to the source PDF. I would stress that this is an observation, not proof of impact: there is no randomized control group, so we cannot say the camera-assisted workflow caused the change. The bar visual simply helps the audience see the direction of the observed change from 42% to 29%; it should not be read as a causal estimate. Because the case is synthetic, the numbers are presented as part of the fictional pilot, not as real campus evidence. This slide should be brief and factual, since the next slide will move from what was observed to what the workflow actually does and why the system still needs staff review.</a:t>
            </a:r>
          </a:p>
          <a:p/>
          <a:p>
            <a:r>
              <a:t>Source: Source needed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shows the practical workload of the camera-assisted workflow. The left side highlights the daily staff review time, which matters because the system does not fully automate sorting; uncertain items still need human attention. The right side shows the weekly camera maintenance burden, reminding the audience that the pilot adds technical upkeep as well as review work. Together, these points frame the operating trade-off: the workflow may support sorting, but it also creates ongoing labor and maintenance demands. Because this is a synthetic pilot, the numbers should be treated as case-specific observations, not as general estimates for other campuses. The next slide will bring the argument to a close by stating the overall takeaway carefully and keeping the distinction between observation and proof.</a:t>
            </a:r>
          </a:p>
          <a:p/>
          <a:p>
            <a:r>
              <a:t>Source: Source needed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closing slide should leave the audience with a careful, exam-ready conclusion. The first sentence preserves the required wording exactly: the pilot is promising, not proven. The second sentence explains why: the case is synthetic and there is no randomized control group, so we cannot claim the camera-assisted workflow caused any change. That distinction matters because the earlier slides showed an observed shift and a practical workflow, but observation alone is not causal evidence.</a:t>
            </a:r>
          </a:p>
          <a:p/>
          <a:p>
            <a:r>
              <a:t>The slide body is intentionally short so it can be read quickly at the end of a four-minute talk. The first section gives the takeaway in one line. The second section adds the methodological limit and frames the result as a pilot signal rather than proof. There are no numbers here because this slide is about interpretation, not reporting new results.</a:t>
            </a:r>
          </a:p>
          <a:p/>
          <a:p>
            <a:r>
              <a:t>When speaking, I would briefly connect back to the previous slides: the workflow can flag uncertain items and create a manageable review process, but the trade-off and the lack of control mean the evidence remains limited. Then I would transition to the Q&amp;A by inviting questions about how a more controlled study could test whether the observed pattern persists without adding too much staff work. That keeps the conclusion measured and consistent with the fictional case study.</a:t>
            </a:r>
          </a:p>
          <a:p/>
          <a:p>
            <a:r>
              <a:t>Source: Source needed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solidFill>
            <a:srgbClr val="FFF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26" y="1097252"/>
            <a:ext cx="5730096" cy="438901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75335" y="1463003"/>
            <a:ext cx="4876678" cy="3657508"/>
          </a:xfrm>
          <a:prstGeom prst="rect">
            <a:avLst/>
          </a:prstGeom>
          <a:noFill/>
        </p:spPr>
        <p:txBody>
          <a:bodyPr wrap="square" lIns="0" rIns="0" tIns="0" bIns="0">
            <a:normAutofit/>
          </a:bodyPr>
          <a:lstStyle/>
          <a:p>
            <a:pPr>
              <a:lnSpc>
                <a:spcPct val="116000"/>
              </a:lnSpc>
              <a:defRPr sz="4895" b="1">
                <a:solidFill>
                  <a:srgbClr val="FFFCF7"/>
                </a:solidFill>
                <a:latin typeface="Georgia"/>
              </a:defRPr>
            </a:pPr>
            <a:r>
              <a:t>North Campus sorting pilot: why it matters</a:t>
            </a:r>
          </a:p>
        </p:txBody>
      </p:sp>
      <p:sp>
        <p:nvSpPr>
          <p:cNvPr id="5" name="Rectangle 4"/>
          <p:cNvSpPr/>
          <p:nvPr/>
        </p:nvSpPr>
        <p:spPr>
          <a:xfrm>
            <a:off x="6827349" y="1706837"/>
            <a:ext cx="975335" cy="4267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27349" y="1877521"/>
            <a:ext cx="4510927" cy="474744"/>
          </a:xfrm>
          <a:prstGeom prst="rect">
            <a:avLst/>
          </a:prstGeom>
          <a:noFill/>
        </p:spPr>
        <p:txBody>
          <a:bodyPr wrap="square" lIns="0" rIns="0" tIns="0" bIns="0">
            <a:normAutofit/>
          </a:bodyPr>
          <a:lstStyle/>
          <a:p>
            <a:pPr>
              <a:lnSpc>
                <a:spcPct val="116000"/>
              </a:lnSpc>
              <a:defRPr sz="2592" b="1">
                <a:solidFill>
                  <a:srgbClr val="111827"/>
                </a:solidFill>
                <a:latin typeface="Arial"/>
              </a:defRPr>
            </a:pPr>
            <a:r>
              <a:t>Why it matters</a:t>
            </a:r>
          </a:p>
        </p:txBody>
      </p:sp>
      <p:sp>
        <p:nvSpPr>
          <p:cNvPr id="7" name="TextBox 6"/>
          <p:cNvSpPr txBox="1"/>
          <p:nvPr/>
        </p:nvSpPr>
        <p:spPr>
          <a:xfrm>
            <a:off x="6827349" y="2498566"/>
            <a:ext cx="4510927" cy="3353447"/>
          </a:xfrm>
          <a:prstGeom prst="rect">
            <a:avLst/>
          </a:prstGeom>
          <a:noFill/>
        </p:spPr>
        <p:txBody>
          <a:bodyPr wrap="square" lIns="0" rIns="0" tIns="0" bIns="0">
            <a:normAutofit/>
          </a:bodyPr>
          <a:lstStyle/>
          <a:p>
            <a:pPr>
              <a:lnSpc>
                <a:spcPct val="116000"/>
              </a:lnSpc>
              <a:defRPr sz="2688" b="0">
                <a:solidFill>
                  <a:srgbClr val="111827"/>
                </a:solidFill>
                <a:latin typeface="Arial"/>
              </a:defRPr>
            </a:pPr>
            <a:r>
              <a:t>Sorting errors make it harder to keep reusable materials separate on a campus.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solidFill>
            <a:srgbClr val="FFF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53418" y="560817"/>
            <a:ext cx="10484857" cy="1097252"/>
          </a:xfrm>
          <a:prstGeom prst="rect">
            <a:avLst/>
          </a:prstGeom>
          <a:noFill/>
        </p:spPr>
        <p:txBody>
          <a:bodyPr wrap="square" lIns="0" rIns="0" tIns="0" bIns="0">
            <a:normAutofit/>
          </a:bodyPr>
          <a:lstStyle/>
          <a:p>
            <a:pPr>
              <a:lnSpc>
                <a:spcPct val="116000"/>
              </a:lnSpc>
              <a:defRPr sz="3744" b="1">
                <a:solidFill>
                  <a:srgbClr val="111827"/>
                </a:solidFill>
                <a:latin typeface="Georgia"/>
              </a:defRPr>
            </a:pPr>
            <a:r>
              <a:t>Camera-assisted workflow</a:t>
            </a:r>
          </a:p>
        </p:txBody>
      </p:sp>
      <p:sp>
        <p:nvSpPr>
          <p:cNvPr id="4" name="Rectangle 3"/>
          <p:cNvSpPr/>
          <p:nvPr/>
        </p:nvSpPr>
        <p:spPr>
          <a:xfrm>
            <a:off x="853418" y="2926006"/>
            <a:ext cx="10484857" cy="24383"/>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3418" y="3023540"/>
            <a:ext cx="10484857" cy="395620"/>
          </a:xfrm>
          <a:prstGeom prst="rect">
            <a:avLst/>
          </a:prstGeom>
          <a:noFill/>
        </p:spPr>
        <p:txBody>
          <a:bodyPr wrap="square" lIns="0" rIns="0" tIns="0" bIns="0">
            <a:normAutofit/>
          </a:bodyPr>
          <a:lstStyle/>
          <a:p>
            <a:pPr>
              <a:lnSpc>
                <a:spcPct val="116000"/>
              </a:lnSpc>
              <a:defRPr sz="2160" b="1">
                <a:solidFill>
                  <a:srgbClr val="111827"/>
                </a:solidFill>
                <a:latin typeface="Arial"/>
              </a:defRPr>
            </a:pPr>
            <a:r>
              <a:t>Workflow</a:t>
            </a:r>
          </a:p>
        </p:txBody>
      </p:sp>
      <p:sp>
        <p:nvSpPr>
          <p:cNvPr id="6" name="TextBox 5"/>
          <p:cNvSpPr txBox="1"/>
          <p:nvPr/>
        </p:nvSpPr>
        <p:spPr>
          <a:xfrm>
            <a:off x="853418" y="3504502"/>
            <a:ext cx="10484857" cy="2591344"/>
          </a:xfrm>
          <a:prstGeom prst="rect">
            <a:avLst/>
          </a:prstGeom>
          <a:noFill/>
        </p:spPr>
        <p:txBody>
          <a:bodyPr wrap="square" lIns="0" rIns="0" tIns="0" bIns="0">
            <a:normAutofit/>
          </a:bodyPr>
          <a:lstStyle/>
          <a:p>
            <a:pPr>
              <a:lnSpc>
                <a:spcPct val="116000"/>
              </a:lnSpc>
              <a:defRPr sz="3647" b="0">
                <a:solidFill>
                  <a:srgbClr val="111827"/>
                </a:solidFill>
                <a:latin typeface="Arial"/>
              </a:defRPr>
            </a:pPr>
            <a:r>
              <a:t>The workflow scans items with a camera and sends uncertain cases to staff review, so it does not decide every item automatically.</a:t>
            </a:r>
          </a:p>
        </p:txBody>
      </p:sp>
      <p:sp>
        <p:nvSpPr>
          <p:cNvPr id="7" name="Rectangle 6"/>
          <p:cNvSpPr/>
          <p:nvPr/>
        </p:nvSpPr>
        <p:spPr>
          <a:xfrm>
            <a:off x="853418" y="1828754"/>
            <a:ext cx="3251118" cy="73150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53418" y="1828754"/>
            <a:ext cx="3251118" cy="30479"/>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104537" y="2170121"/>
            <a:ext cx="243833" cy="24383"/>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6294" y="1999438"/>
            <a:ext cx="2885367" cy="487667"/>
          </a:xfrm>
          <a:prstGeom prst="rect">
            <a:avLst/>
          </a:prstGeom>
          <a:noFill/>
        </p:spPr>
        <p:txBody>
          <a:bodyPr wrap="square" lIns="0" rIns="0" tIns="0" bIns="0">
            <a:normAutofit/>
          </a:bodyPr>
          <a:lstStyle/>
          <a:p>
            <a:pPr>
              <a:lnSpc>
                <a:spcPct val="116000"/>
              </a:lnSpc>
              <a:defRPr sz="1872" b="1">
                <a:solidFill>
                  <a:srgbClr val="111827"/>
                </a:solidFill>
                <a:latin typeface="Arial"/>
              </a:defRPr>
            </a:pPr>
            <a:r>
              <a:t>Scan items</a:t>
            </a:r>
          </a:p>
        </p:txBody>
      </p:sp>
      <p:sp>
        <p:nvSpPr>
          <p:cNvPr id="11" name="Rectangle 10"/>
          <p:cNvSpPr/>
          <p:nvPr/>
        </p:nvSpPr>
        <p:spPr>
          <a:xfrm>
            <a:off x="4348371" y="1828754"/>
            <a:ext cx="3251118" cy="73150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48371" y="1828754"/>
            <a:ext cx="3251118" cy="30479"/>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599490" y="2170121"/>
            <a:ext cx="243833" cy="24383"/>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31246" y="1999438"/>
            <a:ext cx="2885367" cy="487667"/>
          </a:xfrm>
          <a:prstGeom prst="rect">
            <a:avLst/>
          </a:prstGeom>
          <a:noFill/>
        </p:spPr>
        <p:txBody>
          <a:bodyPr wrap="square" lIns="0" rIns="0" tIns="0" bIns="0">
            <a:normAutofit/>
          </a:bodyPr>
          <a:lstStyle/>
          <a:p>
            <a:pPr>
              <a:lnSpc>
                <a:spcPct val="116000"/>
              </a:lnSpc>
              <a:defRPr sz="1872" b="1">
                <a:solidFill>
                  <a:srgbClr val="111827"/>
                </a:solidFill>
                <a:latin typeface="Arial"/>
              </a:defRPr>
            </a:pPr>
            <a:r>
              <a:t>Flag uncertain cases</a:t>
            </a:r>
          </a:p>
        </p:txBody>
      </p:sp>
      <p:sp>
        <p:nvSpPr>
          <p:cNvPr id="15" name="Rectangle 14"/>
          <p:cNvSpPr/>
          <p:nvPr/>
        </p:nvSpPr>
        <p:spPr>
          <a:xfrm>
            <a:off x="7843323" y="1828754"/>
            <a:ext cx="3251118" cy="73150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843323" y="1828754"/>
            <a:ext cx="3251118" cy="30479"/>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26199" y="1999438"/>
            <a:ext cx="2885367" cy="487667"/>
          </a:xfrm>
          <a:prstGeom prst="rect">
            <a:avLst/>
          </a:prstGeom>
          <a:noFill/>
        </p:spPr>
        <p:txBody>
          <a:bodyPr wrap="square" lIns="0" rIns="0" tIns="0" bIns="0">
            <a:normAutofit/>
          </a:bodyPr>
          <a:lstStyle/>
          <a:p>
            <a:pPr>
              <a:lnSpc>
                <a:spcPct val="116000"/>
              </a:lnSpc>
              <a:defRPr sz="1872" b="1">
                <a:solidFill>
                  <a:srgbClr val="111827"/>
                </a:solidFill>
                <a:latin typeface="Arial"/>
              </a:defRPr>
            </a:pPr>
            <a:r>
              <a:t>Staff review</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solidFill>
            <a:srgbClr val="FFF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53418" y="560817"/>
            <a:ext cx="10484857" cy="1097252"/>
          </a:xfrm>
          <a:prstGeom prst="rect">
            <a:avLst/>
          </a:prstGeom>
          <a:noFill/>
        </p:spPr>
        <p:txBody>
          <a:bodyPr wrap="square" lIns="0" rIns="0" tIns="0" bIns="0">
            <a:normAutofit/>
          </a:bodyPr>
          <a:lstStyle/>
          <a:p>
            <a:pPr>
              <a:lnSpc>
                <a:spcPct val="116000"/>
              </a:lnSpc>
              <a:defRPr sz="3744" b="1">
                <a:solidFill>
                  <a:srgbClr val="111827"/>
                </a:solidFill>
                <a:latin typeface="Georgia"/>
              </a:defRPr>
            </a:pPr>
            <a:r>
              <a:t>Pilot observation</a:t>
            </a:r>
          </a:p>
        </p:txBody>
      </p:sp>
      <p:sp>
        <p:nvSpPr>
          <p:cNvPr id="4" name="Rectangle 3"/>
          <p:cNvSpPr/>
          <p:nvPr/>
        </p:nvSpPr>
        <p:spPr>
          <a:xfrm>
            <a:off x="853418" y="1950671"/>
            <a:ext cx="4876678" cy="30479"/>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3418" y="2194505"/>
            <a:ext cx="4876678" cy="1828754"/>
          </a:xfrm>
          <a:prstGeom prst="rect">
            <a:avLst/>
          </a:prstGeom>
          <a:noFill/>
        </p:spPr>
        <p:txBody>
          <a:bodyPr wrap="square" lIns="0" rIns="0" tIns="0" bIns="0">
            <a:normAutofit/>
          </a:bodyPr>
          <a:lstStyle/>
          <a:p>
            <a:pPr>
              <a:lnSpc>
                <a:spcPct val="116000"/>
              </a:lnSpc>
              <a:defRPr sz="6528" b="1">
                <a:solidFill>
                  <a:srgbClr val="334155"/>
                </a:solidFill>
                <a:latin typeface="Arial"/>
              </a:defRPr>
            </a:pPr>
            <a:r>
              <a:t>42%</a:t>
            </a:r>
          </a:p>
        </p:txBody>
      </p:sp>
      <p:sp>
        <p:nvSpPr>
          <p:cNvPr id="6" name="Rectangle 5"/>
          <p:cNvSpPr/>
          <p:nvPr/>
        </p:nvSpPr>
        <p:spPr>
          <a:xfrm>
            <a:off x="6461598" y="1950671"/>
            <a:ext cx="4876678" cy="30479"/>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1598" y="2194505"/>
            <a:ext cx="4876678" cy="1828754"/>
          </a:xfrm>
          <a:prstGeom prst="rect">
            <a:avLst/>
          </a:prstGeom>
          <a:noFill/>
        </p:spPr>
        <p:txBody>
          <a:bodyPr wrap="square" lIns="0" rIns="0" tIns="0" bIns="0">
            <a:normAutofit/>
          </a:bodyPr>
          <a:lstStyle/>
          <a:p>
            <a:pPr>
              <a:lnSpc>
                <a:spcPct val="116000"/>
              </a:lnSpc>
              <a:defRPr sz="6528" b="1">
                <a:solidFill>
                  <a:srgbClr val="334155"/>
                </a:solidFill>
                <a:latin typeface="Arial"/>
              </a:defRPr>
            </a:pPr>
            <a:r>
              <a:t>29%</a:t>
            </a:r>
          </a:p>
        </p:txBody>
      </p:sp>
      <p:sp>
        <p:nvSpPr>
          <p:cNvPr id="8" name="TextBox 7"/>
          <p:cNvSpPr txBox="1"/>
          <p:nvPr/>
        </p:nvSpPr>
        <p:spPr>
          <a:xfrm>
            <a:off x="5852013" y="2682172"/>
            <a:ext cx="609584" cy="731501"/>
          </a:xfrm>
          <a:prstGeom prst="rect">
            <a:avLst/>
          </a:prstGeom>
          <a:noFill/>
        </p:spPr>
        <p:txBody>
          <a:bodyPr wrap="square" lIns="0" rIns="0" tIns="0" bIns="0">
            <a:normAutofit/>
          </a:bodyPr>
          <a:lstStyle/>
          <a:p>
            <a:pPr>
              <a:lnSpc>
                <a:spcPct val="116000"/>
              </a:lnSpc>
              <a:defRPr sz="3167" b="0">
                <a:solidFill>
                  <a:srgbClr val="57534E"/>
                </a:solidFill>
                <a:latin typeface="Arial"/>
              </a:defRPr>
            </a:pPr>
            <a:r>
              <a:t>→</a:t>
            </a:r>
          </a:p>
        </p:txBody>
      </p:sp>
      <p:sp>
        <p:nvSpPr>
          <p:cNvPr id="9" name="TextBox 8"/>
          <p:cNvSpPr txBox="1"/>
          <p:nvPr/>
        </p:nvSpPr>
        <p:spPr>
          <a:xfrm>
            <a:off x="853418" y="4389010"/>
            <a:ext cx="10484857" cy="487667"/>
          </a:xfrm>
          <a:prstGeom prst="rect">
            <a:avLst/>
          </a:prstGeom>
          <a:noFill/>
        </p:spPr>
        <p:txBody>
          <a:bodyPr wrap="square" lIns="0" rIns="0" tIns="0" bIns="0">
            <a:normAutofit/>
          </a:bodyPr>
          <a:lstStyle/>
          <a:p>
            <a:pPr>
              <a:lnSpc>
                <a:spcPct val="116000"/>
              </a:lnSpc>
              <a:defRPr sz="2304" b="1">
                <a:solidFill>
                  <a:srgbClr val="111827"/>
                </a:solidFill>
                <a:latin typeface="Arial"/>
              </a:defRPr>
            </a:pPr>
            <a:r>
              <a:t>Observed change</a:t>
            </a:r>
          </a:p>
        </p:txBody>
      </p:sp>
      <p:sp>
        <p:nvSpPr>
          <p:cNvPr id="10" name="TextBox 9"/>
          <p:cNvSpPr txBox="1"/>
          <p:nvPr/>
        </p:nvSpPr>
        <p:spPr>
          <a:xfrm>
            <a:off x="853418" y="4998595"/>
            <a:ext cx="10484857" cy="1097252"/>
          </a:xfrm>
          <a:prstGeom prst="rect">
            <a:avLst/>
          </a:prstGeom>
          <a:noFill/>
        </p:spPr>
        <p:txBody>
          <a:bodyPr wrap="square" lIns="0" rIns="0" tIns="0" bIns="0">
            <a:normAutofit/>
          </a:bodyPr>
          <a:lstStyle/>
          <a:p>
            <a:pPr>
              <a:lnSpc>
                <a:spcPct val="116000"/>
              </a:lnSpc>
              <a:defRPr sz="2208" b="0">
                <a:solidFill>
                  <a:srgbClr val="111827"/>
                </a:solidFill>
                <a:latin typeface="Arial"/>
              </a:defRPr>
            </a:pPr>
            <a:r>
              <a:t>In the synthetic four-week case, the observed incorrect-sorting share changed from 42% to 29% across 1,000 inspected items per week (p. 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solidFill>
            <a:srgbClr val="FFF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53418" y="560817"/>
            <a:ext cx="10484857" cy="1097252"/>
          </a:xfrm>
          <a:prstGeom prst="rect">
            <a:avLst/>
          </a:prstGeom>
          <a:noFill/>
        </p:spPr>
        <p:txBody>
          <a:bodyPr wrap="square" lIns="0" rIns="0" tIns="0" bIns="0">
            <a:normAutofit/>
          </a:bodyPr>
          <a:lstStyle/>
          <a:p>
            <a:pPr>
              <a:lnSpc>
                <a:spcPct val="116000"/>
              </a:lnSpc>
              <a:defRPr sz="3744" b="1">
                <a:solidFill>
                  <a:srgbClr val="111827"/>
                </a:solidFill>
                <a:latin typeface="Georgia"/>
              </a:defRPr>
            </a:pPr>
            <a:r>
              <a:t>Operating trade-offs</a:t>
            </a:r>
          </a:p>
        </p:txBody>
      </p:sp>
      <p:sp>
        <p:nvSpPr>
          <p:cNvPr id="4" name="Rectangle 3"/>
          <p:cNvSpPr/>
          <p:nvPr/>
        </p:nvSpPr>
        <p:spPr>
          <a:xfrm>
            <a:off x="853418" y="1950671"/>
            <a:ext cx="4876678" cy="30479"/>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3418" y="2072588"/>
            <a:ext cx="4876678" cy="1219169"/>
          </a:xfrm>
          <a:prstGeom prst="rect">
            <a:avLst/>
          </a:prstGeom>
          <a:noFill/>
        </p:spPr>
        <p:txBody>
          <a:bodyPr wrap="square" lIns="0" rIns="0" tIns="0" bIns="0">
            <a:normAutofit/>
          </a:bodyPr>
          <a:lstStyle/>
          <a:p>
            <a:pPr>
              <a:lnSpc>
                <a:spcPct val="116000"/>
              </a:lnSpc>
              <a:defRPr sz="6240" b="1">
                <a:solidFill>
                  <a:srgbClr val="334155"/>
                </a:solidFill>
                <a:latin typeface="Arial"/>
              </a:defRPr>
            </a:pPr>
            <a:r>
              <a:t>18</a:t>
            </a:r>
          </a:p>
        </p:txBody>
      </p:sp>
      <p:sp>
        <p:nvSpPr>
          <p:cNvPr id="6" name="TextBox 5"/>
          <p:cNvSpPr txBox="1"/>
          <p:nvPr/>
        </p:nvSpPr>
        <p:spPr>
          <a:xfrm>
            <a:off x="853418" y="3413674"/>
            <a:ext cx="4876678" cy="609584"/>
          </a:xfrm>
          <a:prstGeom prst="rect">
            <a:avLst/>
          </a:prstGeom>
          <a:noFill/>
        </p:spPr>
        <p:txBody>
          <a:bodyPr wrap="square" lIns="0" rIns="0" tIns="0" bIns="0">
            <a:normAutofit/>
          </a:bodyPr>
          <a:lstStyle/>
          <a:p>
            <a:pPr>
              <a:lnSpc>
                <a:spcPct val="116000"/>
              </a:lnSpc>
              <a:defRPr sz="2688" b="1">
                <a:solidFill>
                  <a:srgbClr val="334155"/>
                </a:solidFill>
                <a:latin typeface="Arial"/>
              </a:defRPr>
            </a:pPr>
            <a:r>
              <a:t>minutes per day</a:t>
            </a:r>
          </a:p>
        </p:txBody>
      </p:sp>
      <p:sp>
        <p:nvSpPr>
          <p:cNvPr id="7" name="Rectangle 6"/>
          <p:cNvSpPr/>
          <p:nvPr/>
        </p:nvSpPr>
        <p:spPr>
          <a:xfrm>
            <a:off x="6461598" y="1950671"/>
            <a:ext cx="4876678" cy="30479"/>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61598" y="2072588"/>
            <a:ext cx="4876678" cy="1219169"/>
          </a:xfrm>
          <a:prstGeom prst="rect">
            <a:avLst/>
          </a:prstGeom>
          <a:noFill/>
        </p:spPr>
        <p:txBody>
          <a:bodyPr wrap="square" lIns="0" rIns="0" tIns="0" bIns="0">
            <a:normAutofit/>
          </a:bodyPr>
          <a:lstStyle/>
          <a:p>
            <a:pPr>
              <a:lnSpc>
                <a:spcPct val="116000"/>
              </a:lnSpc>
              <a:defRPr sz="6240" b="1">
                <a:solidFill>
                  <a:srgbClr val="334155"/>
                </a:solidFill>
                <a:latin typeface="Arial"/>
              </a:defRPr>
            </a:pPr>
            <a:r>
              <a:t>two</a:t>
            </a:r>
          </a:p>
        </p:txBody>
      </p:sp>
      <p:sp>
        <p:nvSpPr>
          <p:cNvPr id="9" name="TextBox 8"/>
          <p:cNvSpPr txBox="1"/>
          <p:nvPr/>
        </p:nvSpPr>
        <p:spPr>
          <a:xfrm>
            <a:off x="6461598" y="3413674"/>
            <a:ext cx="4876678" cy="609584"/>
          </a:xfrm>
          <a:prstGeom prst="rect">
            <a:avLst/>
          </a:prstGeom>
          <a:noFill/>
        </p:spPr>
        <p:txBody>
          <a:bodyPr wrap="square" lIns="0" rIns="0" tIns="0" bIns="0">
            <a:normAutofit/>
          </a:bodyPr>
          <a:lstStyle/>
          <a:p>
            <a:pPr>
              <a:lnSpc>
                <a:spcPct val="116000"/>
              </a:lnSpc>
              <a:defRPr sz="2688" b="1">
                <a:solidFill>
                  <a:srgbClr val="334155"/>
                </a:solidFill>
                <a:latin typeface="Arial"/>
              </a:defRPr>
            </a:pPr>
            <a:r>
              <a:t>hours per week</a:t>
            </a:r>
          </a:p>
        </p:txBody>
      </p:sp>
      <p:sp>
        <p:nvSpPr>
          <p:cNvPr id="10" name="TextBox 9"/>
          <p:cNvSpPr txBox="1"/>
          <p:nvPr/>
        </p:nvSpPr>
        <p:spPr>
          <a:xfrm>
            <a:off x="853418" y="4389010"/>
            <a:ext cx="4876678" cy="487667"/>
          </a:xfrm>
          <a:prstGeom prst="rect">
            <a:avLst/>
          </a:prstGeom>
          <a:noFill/>
        </p:spPr>
        <p:txBody>
          <a:bodyPr wrap="square" lIns="0" rIns="0" tIns="0" bIns="0">
            <a:normAutofit/>
          </a:bodyPr>
          <a:lstStyle/>
          <a:p>
            <a:pPr>
              <a:lnSpc>
                <a:spcPct val="116000"/>
              </a:lnSpc>
              <a:defRPr sz="2304" b="1">
                <a:solidFill>
                  <a:srgbClr val="111827"/>
                </a:solidFill>
                <a:latin typeface="Arial"/>
              </a:defRPr>
            </a:pPr>
            <a:r>
              <a:t>Staff review</a:t>
            </a:r>
          </a:p>
        </p:txBody>
      </p:sp>
      <p:sp>
        <p:nvSpPr>
          <p:cNvPr id="11" name="TextBox 10"/>
          <p:cNvSpPr txBox="1"/>
          <p:nvPr/>
        </p:nvSpPr>
        <p:spPr>
          <a:xfrm>
            <a:off x="853418" y="4998595"/>
            <a:ext cx="4876678" cy="1097252"/>
          </a:xfrm>
          <a:prstGeom prst="rect">
            <a:avLst/>
          </a:prstGeom>
          <a:noFill/>
        </p:spPr>
        <p:txBody>
          <a:bodyPr wrap="square" lIns="0" rIns="0" tIns="0" bIns="0">
            <a:normAutofit/>
          </a:bodyPr>
          <a:lstStyle/>
          <a:p>
            <a:pPr>
              <a:lnSpc>
                <a:spcPct val="116000"/>
              </a:lnSpc>
              <a:defRPr sz="2496" b="0">
                <a:solidFill>
                  <a:srgbClr val="111827"/>
                </a:solidFill>
                <a:latin typeface="Arial"/>
              </a:defRPr>
            </a:pPr>
            <a:r>
              <a:t>Staff review: 18 minutes per day</a:t>
            </a:r>
          </a:p>
        </p:txBody>
      </p:sp>
      <p:sp>
        <p:nvSpPr>
          <p:cNvPr id="12" name="TextBox 11"/>
          <p:cNvSpPr txBox="1"/>
          <p:nvPr/>
        </p:nvSpPr>
        <p:spPr>
          <a:xfrm>
            <a:off x="6461598" y="4389010"/>
            <a:ext cx="4876678" cy="487667"/>
          </a:xfrm>
          <a:prstGeom prst="rect">
            <a:avLst/>
          </a:prstGeom>
          <a:noFill/>
        </p:spPr>
        <p:txBody>
          <a:bodyPr wrap="square" lIns="0" rIns="0" tIns="0" bIns="0">
            <a:normAutofit/>
          </a:bodyPr>
          <a:lstStyle/>
          <a:p>
            <a:pPr>
              <a:lnSpc>
                <a:spcPct val="116000"/>
              </a:lnSpc>
              <a:defRPr sz="2304" b="1">
                <a:solidFill>
                  <a:srgbClr val="111827"/>
                </a:solidFill>
                <a:latin typeface="Arial"/>
              </a:defRPr>
            </a:pPr>
            <a:r>
              <a:t>Camera maintenance</a:t>
            </a:r>
          </a:p>
        </p:txBody>
      </p:sp>
      <p:sp>
        <p:nvSpPr>
          <p:cNvPr id="13" name="TextBox 12"/>
          <p:cNvSpPr txBox="1"/>
          <p:nvPr/>
        </p:nvSpPr>
        <p:spPr>
          <a:xfrm>
            <a:off x="6461598" y="4998595"/>
            <a:ext cx="4876678" cy="1097252"/>
          </a:xfrm>
          <a:prstGeom prst="rect">
            <a:avLst/>
          </a:prstGeom>
          <a:noFill/>
        </p:spPr>
        <p:txBody>
          <a:bodyPr wrap="square" lIns="0" rIns="0" tIns="0" bIns="0">
            <a:normAutofit/>
          </a:bodyPr>
          <a:lstStyle/>
          <a:p>
            <a:pPr>
              <a:lnSpc>
                <a:spcPct val="116000"/>
              </a:lnSpc>
              <a:defRPr sz="2496" b="0">
                <a:solidFill>
                  <a:srgbClr val="111827"/>
                </a:solidFill>
                <a:latin typeface="Arial"/>
              </a:defRPr>
            </a:pPr>
            <a:r>
              <a:t>Camera maintenance: two hours per week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solidFill>
            <a:srgbClr val="FFF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53418" y="560817"/>
            <a:ext cx="10484857" cy="1097252"/>
          </a:xfrm>
          <a:prstGeom prst="rect">
            <a:avLst/>
          </a:prstGeom>
          <a:noFill/>
        </p:spPr>
        <p:txBody>
          <a:bodyPr wrap="square" lIns="0" rIns="0" tIns="0" bIns="0">
            <a:normAutofit/>
          </a:bodyPr>
          <a:lstStyle/>
          <a:p>
            <a:pPr>
              <a:lnSpc>
                <a:spcPct val="116000"/>
              </a:lnSpc>
              <a:defRPr sz="3744" b="1">
                <a:solidFill>
                  <a:srgbClr val="111827"/>
                </a:solidFill>
                <a:latin typeface="Georgia"/>
              </a:defRPr>
            </a:pPr>
            <a:r>
              <a:t>Conclusion</a:t>
            </a:r>
          </a:p>
        </p:txBody>
      </p:sp>
      <p:sp>
        <p:nvSpPr>
          <p:cNvPr id="4" name="Rectangle 3"/>
          <p:cNvSpPr/>
          <p:nvPr/>
        </p:nvSpPr>
        <p:spPr>
          <a:xfrm>
            <a:off x="5120511" y="2072588"/>
            <a:ext cx="18287" cy="4023259"/>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53418" y="2072588"/>
            <a:ext cx="1097252" cy="4267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3418" y="2316422"/>
            <a:ext cx="3901342" cy="534240"/>
          </a:xfrm>
          <a:prstGeom prst="rect">
            <a:avLst/>
          </a:prstGeom>
          <a:noFill/>
        </p:spPr>
        <p:txBody>
          <a:bodyPr wrap="square" lIns="0" rIns="0" tIns="0" bIns="0">
            <a:normAutofit/>
          </a:bodyPr>
          <a:lstStyle/>
          <a:p>
            <a:pPr>
              <a:lnSpc>
                <a:spcPct val="116000"/>
              </a:lnSpc>
              <a:defRPr sz="2976" b="1">
                <a:solidFill>
                  <a:srgbClr val="111827"/>
                </a:solidFill>
                <a:latin typeface="Arial"/>
              </a:defRPr>
            </a:pPr>
            <a:r>
              <a:t>Takeaway</a:t>
            </a:r>
          </a:p>
        </p:txBody>
      </p:sp>
      <p:sp>
        <p:nvSpPr>
          <p:cNvPr id="7" name="TextBox 6"/>
          <p:cNvSpPr txBox="1"/>
          <p:nvPr/>
        </p:nvSpPr>
        <p:spPr>
          <a:xfrm>
            <a:off x="853418" y="3082304"/>
            <a:ext cx="3901342" cy="3013543"/>
          </a:xfrm>
          <a:prstGeom prst="rect">
            <a:avLst/>
          </a:prstGeom>
          <a:noFill/>
        </p:spPr>
        <p:txBody>
          <a:bodyPr wrap="square" lIns="0" rIns="0" tIns="0" bIns="0">
            <a:normAutofit/>
          </a:bodyPr>
          <a:lstStyle/>
          <a:p>
            <a:pPr>
              <a:lnSpc>
                <a:spcPct val="116000"/>
              </a:lnSpc>
              <a:defRPr sz="2592" b="0">
                <a:solidFill>
                  <a:srgbClr val="111827"/>
                </a:solidFill>
                <a:latin typeface="Arial"/>
              </a:defRPr>
            </a:pPr>
            <a:r>
              <a:t>The results are promising, not proven.</a:t>
            </a:r>
          </a:p>
        </p:txBody>
      </p:sp>
      <p:sp>
        <p:nvSpPr>
          <p:cNvPr id="8" name="Rectangle 7"/>
          <p:cNvSpPr/>
          <p:nvPr/>
        </p:nvSpPr>
        <p:spPr>
          <a:xfrm>
            <a:off x="5486262" y="2072588"/>
            <a:ext cx="5852013" cy="24383"/>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262" y="2170121"/>
            <a:ext cx="5852013" cy="395620"/>
          </a:xfrm>
          <a:prstGeom prst="rect">
            <a:avLst/>
          </a:prstGeom>
          <a:noFill/>
        </p:spPr>
        <p:txBody>
          <a:bodyPr wrap="square" lIns="0" rIns="0" tIns="0" bIns="0">
            <a:normAutofit/>
          </a:bodyPr>
          <a:lstStyle/>
          <a:p>
            <a:pPr>
              <a:lnSpc>
                <a:spcPct val="116000"/>
              </a:lnSpc>
              <a:defRPr sz="2160" b="1">
                <a:solidFill>
                  <a:srgbClr val="111827"/>
                </a:solidFill>
                <a:latin typeface="Arial"/>
              </a:defRPr>
            </a:pPr>
            <a:r>
              <a:t>Limits</a:t>
            </a:r>
          </a:p>
        </p:txBody>
      </p:sp>
      <p:sp>
        <p:nvSpPr>
          <p:cNvPr id="10" name="TextBox 9"/>
          <p:cNvSpPr txBox="1"/>
          <p:nvPr/>
        </p:nvSpPr>
        <p:spPr>
          <a:xfrm>
            <a:off x="5486262" y="2651084"/>
            <a:ext cx="5852013" cy="3444763"/>
          </a:xfrm>
          <a:prstGeom prst="rect">
            <a:avLst/>
          </a:prstGeom>
          <a:noFill/>
        </p:spPr>
        <p:txBody>
          <a:bodyPr wrap="square" lIns="0" rIns="0" tIns="0" bIns="0">
            <a:normAutofit/>
          </a:bodyPr>
          <a:lstStyle/>
          <a:p>
            <a:pPr>
              <a:lnSpc>
                <a:spcPct val="116000"/>
              </a:lnSpc>
              <a:defRPr sz="2208" b="0">
                <a:solidFill>
                  <a:srgbClr val="57534E"/>
                </a:solidFill>
                <a:latin typeface="Arial"/>
              </a:defRPr>
            </a:pPr>
            <a:r>
              <a:t>Because this synthetic pilot has no randomized control group, the study design cannot establish causation. The safest reading is that the workflow may be useful, but the observed change should be treated as a pilot signal, not proof.</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
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Suggested: slidecraft-synthetic-demo-source.pdf, p.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Suggested: slidecraft-synthetic-demo-source.pdf, p.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Suggested: slidecraft-synthetic-demo-source.pdf, p.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Suggested: slidecraft-synthetic-demo-source.pdf, p.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Source needed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418" y="609584"/>
            <a:ext cx="10484857" cy="10972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3360" b="1">
                <a:solidFill>
                  <a:srgbClr val="F8FAFC"/>
                </a:solidFill>
                <a:latin typeface="Arial"/>
              </a:defRPr>
            </a:pPr>
            <a:r>
              <a:t>North Campus sorting pilot: why sorting is hard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853418" y="2194505"/>
            <a:ext cx="4632844" cy="3047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3418" y="2316422"/>
            <a:ext cx="4632844" cy="6095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208" b="1">
                <a:solidFill>
                  <a:srgbClr val="F8FAFC"/>
                </a:solidFill>
                <a:latin typeface="Arial"/>
              </a:defRPr>
            </a:pPr>
            <a:r>
              <a:t>Campus waste streams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18" y="3047923"/>
            <a:ext cx="4632844" cy="341367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160" b="0">
                <a:solidFill>
                  <a:srgbClr val="F8FAFC"/>
                </a:solidFill>
                <a:latin typeface="Arial"/>
              </a:defRPr>
            </a:pPr>
            <a:r>
              <a:t>Campus waste streams mix reusable and non-reusable items, so sorting errors make it harder to keep reusable materials separate.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2194505"/>
            <a:ext cx="4632844" cy="3047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5847" y="2316422"/>
            <a:ext cx="4632844" cy="6095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208" b="1">
                <a:solidFill>
                  <a:srgbClr val="F8FAFC"/>
                </a:solidFill>
                <a:latin typeface="Arial"/>
              </a:defRPr>
            </a:pPr>
            <a:r>
              <a:t>North Campus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3047923"/>
            <a:ext cx="4632844" cy="341367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160" b="0">
                <a:solidFill>
                  <a:srgbClr val="F8FAFC"/>
                </a:solidFill>
                <a:latin typeface="Arial"/>
              </a:defRPr>
            </a:pPr>
            <a:r>
              <a:t>This fictional North Campus pilot uses camera-assisted sorting as a case study for a non-specialist audience. The figures are synthetic and the pilot is not a real campus result.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418" y="609584"/>
            <a:ext cx="10484857" cy="10972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3647" b="1">
                <a:solidFill>
                  <a:srgbClr val="F8FAFC"/>
                </a:solidFill>
                <a:latin typeface="Arial"/>
              </a:defRPr>
            </a:pPr>
            <a:r>
              <a:t>How the camera-assisted workflow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853418" y="3657508"/>
            <a:ext cx="10484857" cy="18287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3418" y="3840383"/>
            <a:ext cx="2926006" cy="123826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016" b="1">
                <a:solidFill>
                  <a:srgbClr val="F8FAFC"/>
                </a:solidFill>
                <a:latin typeface="Arial"/>
              </a:defRPr>
            </a:pPr>
            <a:r>
              <a:t>Camera classifier and human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7093" y="3840383"/>
            <a:ext cx="7071183" cy="123826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1823" b="0">
                <a:solidFill>
                  <a:srgbClr val="F8FAFC"/>
                </a:solidFill>
                <a:latin typeface="Arial"/>
              </a:defRPr>
            </a:pPr>
            <a:r>
              <a:t>Camera classifier scans items and flags uncertain cases for human review. Staff make the final decision on flagged items, so the system does not automatically decide every case.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18" y="5139604"/>
            <a:ext cx="10484857" cy="18287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18" y="5322479"/>
            <a:ext cx="2926006" cy="95624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016" b="1">
                <a:solidFill>
                  <a:srgbClr val="F8FAFC"/>
                </a:solidFill>
                <a:latin typeface="Arial"/>
              </a:defRPr>
            </a:pPr>
            <a:r>
              <a:t>Pilot timing and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7093" y="5322479"/>
            <a:ext cx="7071183" cy="95624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1920" b="0">
                <a:solidFill>
                  <a:srgbClr val="F8FAFC"/>
                </a:solidFill>
                <a:latin typeface="Arial"/>
              </a:defRPr>
            </a:pPr>
            <a:r>
              <a:t>In the fictional pilot, staff review took 18 minutes per day and camera maintenance took two hours per week. No faces were stored.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3418" y="2194505"/>
            <a:ext cx="2377380" cy="109725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3418" y="2194505"/>
            <a:ext cx="2377380" cy="3047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0799" y="2718748"/>
            <a:ext cx="243833" cy="24383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6294" y="2438339"/>
            <a:ext cx="2011629" cy="73150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1823" b="1">
                <a:solidFill>
                  <a:srgbClr val="F8FAFC"/>
                </a:solidFill>
                <a:latin typeface="Arial"/>
              </a:defRPr>
            </a:pPr>
            <a:r>
              <a:t>Scan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633" y="2194505"/>
            <a:ext cx="2377380" cy="109725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633" y="2194505"/>
            <a:ext cx="2377380" cy="3047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52013" y="2718748"/>
            <a:ext cx="243833" cy="24383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508" y="2438339"/>
            <a:ext cx="2011629" cy="73150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1823" b="1">
                <a:solidFill>
                  <a:srgbClr val="F8FAFC"/>
                </a:solidFill>
                <a:latin typeface="Arial"/>
              </a:defRPr>
            </a:pPr>
            <a:r>
              <a:t>Flag uncertain items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5847" y="2194505"/>
            <a:ext cx="2377380" cy="109725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5847" y="2194505"/>
            <a:ext cx="2377380" cy="3047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73228" y="2718748"/>
            <a:ext cx="243833" cy="24383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8723" y="2438339"/>
            <a:ext cx="2011629" cy="73150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1823" b="1">
                <a:solidFill>
                  <a:srgbClr val="F8FAFC"/>
                </a:solidFill>
                <a:latin typeface="Arial"/>
              </a:defRPr>
            </a:pPr>
            <a:r>
              <a:t>Staff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17062" y="2194505"/>
            <a:ext cx="2377380" cy="109725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17062" y="2194505"/>
            <a:ext cx="2377380" cy="3047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99937" y="2438339"/>
            <a:ext cx="2011629" cy="73150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1823" b="1">
                <a:solidFill>
                  <a:srgbClr val="F8FAFC"/>
                </a:solidFill>
                <a:latin typeface="Arial"/>
              </a:defRPr>
            </a:pPr>
            <a:r>
              <a:t>Final decision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418" y="609584"/>
            <a:ext cx="10484857" cy="10972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3647" b="1">
                <a:solidFill>
                  <a:srgbClr val="F8FAFC"/>
                </a:solidFill>
                <a:latin typeface="Arial"/>
              </a:defRPr>
            </a:pPr>
            <a:r>
              <a:t>Pilot observations from the fictional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853418" y="2194505"/>
            <a:ext cx="4876678" cy="18287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3418" y="2316422"/>
            <a:ext cx="4876678" cy="3657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1823" b="1">
                <a:solidFill>
                  <a:srgbClr val="F8FAFC"/>
                </a:solidFill>
                <a:latin typeface="Arial"/>
              </a:defRPr>
            </a:pPr>
            <a:r>
              <a:t>North Campus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18" y="2682172"/>
            <a:ext cx="4876678" cy="236075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016" b="0">
                <a:solidFill>
                  <a:srgbClr val="A3B2C8"/>
                </a:solidFill>
                <a:latin typeface="Arial"/>
              </a:defRPr>
            </a:pPr>
            <a:r>
              <a:t>Synthetic North Campus case: 1,000 waste items were inspected per week for four weeks. Before the camera-assisted workflow, 42% were placed in the incorrect stream; during the pilot, 29% were placed in the incorrect stream (p. 1).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18" y="5103886"/>
            <a:ext cx="4876678" cy="18287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18" y="5225803"/>
            <a:ext cx="4876678" cy="3657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1823" b="1">
                <a:solidFill>
                  <a:srgbClr val="F8FAFC"/>
                </a:solidFill>
                <a:latin typeface="Arial"/>
              </a:defRPr>
            </a:pPr>
            <a: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18" y="5591554"/>
            <a:ext cx="4876678" cy="80908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016" b="0">
                <a:solidFill>
                  <a:srgbClr val="A3B2C8"/>
                </a:solidFill>
                <a:latin typeface="Arial"/>
              </a:defRPr>
            </a:pPr>
            <a:r>
              <a:t>These are observed shares in a fictional demo, not proof of causation.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61598" y="5364345"/>
            <a:ext cx="4876678" cy="18287"/>
          </a:xfrm>
          <a:prstGeom prst="rect">
            <a:avLst/>
          </a:prstGeom>
          <a:solidFill>
            <a:srgbClr val="A3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05432" y="2560255"/>
            <a:ext cx="1828754" cy="2804089"/>
          </a:xfrm>
          <a:prstGeom prst="rect">
            <a:avLst/>
          </a:prstGeom>
          <a:solidFill>
            <a:srgbClr val="A3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5432" y="1828754"/>
            <a:ext cx="2194505" cy="6095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400" b="1">
                <a:solidFill>
                  <a:srgbClr val="F8FAFC"/>
                </a:solidFill>
                <a:latin typeface="Arial"/>
              </a:defRPr>
            </a:pPr>
            <a:r>
              <a:t>42% incorrect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432" y="5608179"/>
            <a:ext cx="2194505" cy="6095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1728" b="0">
                <a:solidFill>
                  <a:srgbClr val="A3B2C8"/>
                </a:solidFill>
                <a:latin typeface="Arial"/>
              </a:defRPr>
            </a:pPr>
            <a:r>
              <a:t>Before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3771" y="3428188"/>
            <a:ext cx="1828754" cy="1936157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3771" y="2696686"/>
            <a:ext cx="2194505" cy="6095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400" b="1">
                <a:solidFill>
                  <a:srgbClr val="F8FAFC"/>
                </a:solidFill>
                <a:latin typeface="Arial"/>
              </a:defRPr>
            </a:pPr>
            <a:r>
              <a:t>29% incorrect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771" y="5608179"/>
            <a:ext cx="2194505" cy="6095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1728" b="0">
                <a:solidFill>
                  <a:srgbClr val="A3B2C8"/>
                </a:solidFill>
                <a:latin typeface="Arial"/>
              </a:defRPr>
            </a:pPr>
            <a:r>
              <a:t>During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418" y="609584"/>
            <a:ext cx="10484857" cy="10972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3647" b="1">
                <a:solidFill>
                  <a:srgbClr val="F8FAFC"/>
                </a:solidFill>
                <a:latin typeface="Arial"/>
              </a:defRPr>
            </a:pPr>
            <a:r>
              <a:t>Operating trade-offs in the 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853418" y="3657508"/>
            <a:ext cx="10484857" cy="18287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3418" y="3840383"/>
            <a:ext cx="2926006" cy="63811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1823" b="1">
                <a:solidFill>
                  <a:srgbClr val="F8FAFC"/>
                </a:solidFill>
                <a:latin typeface="Arial"/>
              </a:defRPr>
            </a:pPr>
            <a:r>
              <a:t>Workflow and human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7093" y="3840383"/>
            <a:ext cx="7071183" cy="63811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1823" b="0">
                <a:solidFill>
                  <a:srgbClr val="F8FAFC"/>
                </a:solidFill>
                <a:latin typeface="Arial"/>
              </a:defRPr>
            </a:pPr>
            <a:r>
              <a:t>The workflow flags uncertain items for human review; staff make the final decision on flagged items.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18" y="4539460"/>
            <a:ext cx="10484857" cy="18287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18" y="4722336"/>
            <a:ext cx="2926006" cy="68481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016" b="1">
                <a:solidFill>
                  <a:srgbClr val="F8FAFC"/>
                </a:solidFill>
                <a:latin typeface="Arial"/>
              </a:defRPr>
            </a:pPr>
            <a:r>
              <a:t>Pilot staffing and maintenance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7093" y="4722336"/>
            <a:ext cx="7071183" cy="68481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1823" b="0">
                <a:solidFill>
                  <a:srgbClr val="F8FAFC"/>
                </a:solidFill>
                <a:latin typeface="Arial"/>
              </a:defRPr>
            </a:pPr>
            <a:r>
              <a:t>In the fictional pilot, staff review took 18 minutes per day, and camera maintenance took two hours per week.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3418" y="5468104"/>
            <a:ext cx="10484857" cy="18287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418" y="5650980"/>
            <a:ext cx="2926006" cy="62774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016" b="1">
                <a:solidFill>
                  <a:srgbClr val="F8FAFC"/>
                </a:solidFill>
                <a:latin typeface="Arial"/>
              </a:defRPr>
            </a:pPr>
            <a:r>
              <a:t>Evaluation 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7093" y="5650980"/>
            <a:ext cx="7071183" cy="62774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1823" b="0">
                <a:solidFill>
                  <a:srgbClr val="F8FAFC"/>
                </a:solidFill>
                <a:latin typeface="Arial"/>
              </a:defRPr>
            </a:pPr>
            <a:r>
              <a:t>The model was evaluated only on a narrow campus sample, so performance at another site is unknown.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3418" y="2194505"/>
            <a:ext cx="3251118" cy="109725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3418" y="2194505"/>
            <a:ext cx="3251118" cy="3047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04537" y="2718748"/>
            <a:ext cx="243833" cy="24383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6294" y="2438339"/>
            <a:ext cx="2885367" cy="73150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1823" b="1">
                <a:solidFill>
                  <a:srgbClr val="F8FAFC"/>
                </a:solidFill>
                <a:latin typeface="Arial"/>
              </a:defRPr>
            </a:pPr>
            <a:r>
              <a:t>Camera flags uncertain items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8371" y="2194505"/>
            <a:ext cx="3251118" cy="109725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8371" y="2194505"/>
            <a:ext cx="3251118" cy="3047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99490" y="2718748"/>
            <a:ext cx="243833" cy="24383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1246" y="2438339"/>
            <a:ext cx="2885367" cy="73150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1823" b="1">
                <a:solidFill>
                  <a:srgbClr val="F8FAFC"/>
                </a:solidFill>
                <a:latin typeface="Arial"/>
              </a:defRPr>
            </a:pPr>
            <a:r>
              <a:t>Staff review flagged items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43323" y="2194505"/>
            <a:ext cx="3251118" cy="109725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43323" y="2194505"/>
            <a:ext cx="3251118" cy="3047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6199" y="2438339"/>
            <a:ext cx="2885367" cy="73150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1823" b="1">
                <a:solidFill>
                  <a:srgbClr val="F8FAFC"/>
                </a:solidFill>
                <a:latin typeface="Arial"/>
              </a:defRPr>
            </a:pPr>
            <a:r>
              <a:t>Final decision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418" y="609584"/>
            <a:ext cx="10484857" cy="109725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3647" b="1">
                <a:solidFill>
                  <a:srgbClr val="F8FAFC"/>
                </a:solidFill>
                <a:latin typeface="Arial"/>
              </a:defRPr>
            </a:pPr>
            <a:r>
              <a:t>Measured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53418" y="2194505"/>
            <a:ext cx="10484857" cy="18287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3418" y="2377380"/>
            <a:ext cx="2926006" cy="70832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016" b="1">
                <a:solidFill>
                  <a:srgbClr val="F8FAFC"/>
                </a:solidFill>
                <a:latin typeface="Arial"/>
              </a:defRPr>
            </a:pPr>
            <a:r>
              <a:t>Overall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7093" y="2377380"/>
            <a:ext cx="7071183" cy="70832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112" b="0">
                <a:solidFill>
                  <a:srgbClr val="F8FAFC"/>
                </a:solidFill>
                <a:latin typeface="Arial"/>
              </a:defRPr>
            </a:pPr>
            <a:r>
              <a:t>The results are promising, not proven.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18" y="3146666"/>
            <a:ext cx="10484857" cy="18287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18" y="3329541"/>
            <a:ext cx="2926006" cy="116677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016" b="1">
                <a:solidFill>
                  <a:srgbClr val="F8FAFC"/>
                </a:solidFill>
                <a:latin typeface="Arial"/>
              </a:defRPr>
            </a:pPr>
            <a:r>
              <a:t>Study 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7093" y="3329541"/>
            <a:ext cx="7071183" cy="116677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112" b="0">
                <a:solidFill>
                  <a:srgbClr val="F8FAFC"/>
                </a:solidFill>
                <a:latin typeface="Arial"/>
              </a:defRPr>
            </a:pPr>
            <a:r>
              <a:t>This synthetic pilot suggests the workflow may help, but the design cannot show causation.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3418" y="4557275"/>
            <a:ext cx="10484857" cy="18287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418" y="4740151"/>
            <a:ext cx="2926006" cy="166048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016" b="1">
                <a:solidFill>
                  <a:srgbClr val="F8FAFC"/>
                </a:solidFill>
                <a:latin typeface="Arial"/>
              </a:defRPr>
            </a:pPr>
            <a:r>
              <a:t>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7093" y="4740151"/>
            <a:ext cx="7071183" cy="166048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lnSpc>
                <a:spcPct val="116000"/>
              </a:lnSpc>
              <a:defRPr sz="2112" b="0">
                <a:solidFill>
                  <a:srgbClr val="F8FAFC"/>
                </a:solidFill>
                <a:latin typeface="Arial"/>
              </a:defRPr>
            </a:pPr>
            <a:r>
              <a:t>For a campus decision, the next step would be a controlled study that checks whether the observed change holds without adding too much staff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